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D0DA-E85B-E34E-5F9C-AF2435B08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746D1-722B-1505-156F-07D77C65D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89A9C-4CC6-18B2-D45E-ABBB1C92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B422-2F90-28D2-8F7E-CDF26534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42F8-0316-4EB4-9462-EA11B2BA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80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FCFD9-2D3D-BFF5-B520-ABAC98A12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7991-A86E-52D5-04EF-F529E07B3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28A76-AC9F-CFB1-2E87-391ECB2B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2AE6-0116-171D-0C2F-C5A00009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EE4A2-5E9A-3226-3425-9DF08616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12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732D-4268-6CE6-0E90-30D51DC2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7C152-D106-D31B-E191-BCF439ADA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94921-1A48-6EB1-2291-AC6B8AC7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CBE30-CFFF-BFB2-F711-39A55C11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C60A-FDBD-CDCB-2FEC-25F84CD6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63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3887-A32D-7D8E-F22D-275AF694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AE81F-CD2A-A9CC-AF8C-99B1EF98A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4E131-C119-3A4F-AC8D-8F3FA1706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94CD7-E26B-2F47-0C2B-D2F7925B8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BE279-9031-A0EC-DD6D-EC319725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ED3B0-7563-0BDA-05E6-77A7B0BD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26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256D-C9AD-D220-985A-9BF2B124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725E6-11DB-B9B0-E067-DAB073FB5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DE4C7-93D0-647D-85FC-B6022C5C0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40216-C28A-FD95-8831-D82EBFE76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B79A7-434A-51F8-72DF-E576ADCE0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21C30-9F2C-9FFE-6D50-FF059CE4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6DC35-F21D-F540-2048-05079A28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96ABDF-F427-1533-302B-B8C2E164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427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9B13-E879-6197-0CD1-36403BA9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07EA8-CD72-8EEC-1778-791E7EE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1B7EC-AA03-01A0-E444-1FB0CB46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327AD-E9F5-AFD5-8E04-9BD79F2B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10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F58341-948C-1BE8-E475-01231A86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41AC6-812E-D004-EE60-01309748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741C6-5955-3F4D-F53C-EB6DEB4C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419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2BF9-19F8-BCFF-53B6-3E6ADAD8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0EAB1-5486-78E8-0A17-F5B678624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39FFE-0A75-0181-0061-0391A77E7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E3547-726A-0B64-5915-35D54EDE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2DA4F-651C-811A-B5B4-2E69443B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FE336-904E-AC08-78EB-5943D7C72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977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EF61-7F8B-D5E3-37AE-D2B21608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208AFF-DA78-1AE0-CF8B-517CC0DDD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70493-F002-B771-C734-2E1050D7D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F6254-3BF7-CF34-38DE-321DBB26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AA9A-B280-2A7B-38FA-629A488E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E1344-B0F8-C3C5-389D-09F25EC2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34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0D78-1DD0-A140-380F-68FDA5C6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3D6B8-21C7-35F4-A72D-33B3D6AF8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6935E-F4B6-0B61-4A94-24C378BF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E6EC1-EC31-BDFC-198C-4E67D8A5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70687-E76A-F92F-BFDC-B7324D03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80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19039-B1DF-10D4-0A21-04680D6E5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45E5B-F4A3-1E2F-005D-706B05291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A6522-856D-1701-DA0D-A61CE16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280E-3BAF-57C8-7F2F-114425E4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8FD94-8CD8-4FAF-88C0-5A130537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11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E48C6-EB96-FEEB-C02E-173FFE60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A7F85-AC15-D2EF-934F-D3F8DCBEA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DB718-98EB-776C-3DA9-571CB7303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1FD9A-B7DF-4F29-8D1F-A65342DA3D09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6456F-DB6D-7C8F-B252-89CA3D91B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1A92A-2680-162C-80E4-D24983DB3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4E297-6634-447F-910A-529EA93B36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50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53A42E-D8F8-B7D8-FDA0-A8C9C8E89763}"/>
              </a:ext>
            </a:extLst>
          </p:cNvPr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E5F35-AE0E-E3C1-CFE7-98169861AB43}"/>
              </a:ext>
            </a:extLst>
          </p:cNvPr>
          <p:cNvSpPr txBox="1"/>
          <p:nvPr/>
        </p:nvSpPr>
        <p:spPr>
          <a:xfrm>
            <a:off x="685800" y="482600"/>
            <a:ext cx="10414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EA5E9"/>
                </a:solidFill>
                <a:latin typeface="Aptos" panose="020B0004020202020204" pitchFamily="34" charset="0"/>
              </a:rPr>
              <a:t>COM769 Scalable Advanced Software Solutions</a:t>
            </a:r>
            <a:endParaRPr lang="en-GB" sz="1700" b="1">
              <a:solidFill>
                <a:srgbClr val="0EA5E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42540-04E4-454B-0B3A-EDB1BF91D71F}"/>
              </a:ext>
            </a:extLst>
          </p:cNvPr>
          <p:cNvSpPr txBox="1"/>
          <p:nvPr/>
        </p:nvSpPr>
        <p:spPr>
          <a:xfrm>
            <a:off x="685800" y="1460500"/>
            <a:ext cx="10033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4200" b="1">
                <a:solidFill>
                  <a:srgbClr val="FFFFFF"/>
                </a:solidFill>
                <a:latin typeface="Aptos" panose="020B0004020202020204" pitchFamily="34" charset="0"/>
              </a:rPr>
              <a:t>AI Media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0D58B-D3DF-2627-5337-D489E520E9CF}"/>
              </a:ext>
            </a:extLst>
          </p:cNvPr>
          <p:cNvSpPr txBox="1"/>
          <p:nvPr/>
        </p:nvSpPr>
        <p:spPr>
          <a:xfrm>
            <a:off x="736600" y="3200400"/>
            <a:ext cx="9779000" cy="10618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100">
                <a:solidFill>
                  <a:srgbClr val="CBD5E1"/>
                </a:solidFill>
                <a:latin typeface="Aptos" panose="020B0004020202020204" pitchFamily="34" charset="0"/>
              </a:rPr>
              <a:t>A cloud-native media distribution web application with creator uploads, consumer engagement, object storage, MySQL persistence, CI/CD, Docker deployment and AI-assisted content suggestions.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ED46D-8B95-8A82-A9D1-80B07F90D541}"/>
              </a:ext>
            </a:extLst>
          </p:cNvPr>
          <p:cNvSpPr txBox="1"/>
          <p:nvPr/>
        </p:nvSpPr>
        <p:spPr>
          <a:xfrm>
            <a:off x="736600" y="5334000"/>
            <a:ext cx="9652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E2E8F0"/>
                </a:solidFill>
                <a:latin typeface="Aptos" panose="020B0004020202020204" pitchFamily="34" charset="0"/>
              </a:rPr>
              <a:t>Student name: [Add name]    Student number: [Add number]    Deployment: Azure + GitHub Actions</a:t>
            </a:r>
            <a:endParaRPr lang="en-GB" sz="1700">
              <a:solidFill>
                <a:srgbClr val="E2E8F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EF08E-C155-96C7-50B6-633B3F42A7AC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0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62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9AF558-981B-3AC4-8A9C-1FF8F2A06970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Aptos" panose="020B0004020202020204" pitchFamily="34" charset="0"/>
              </a:rPr>
              <a:t>Slides 1-2: Problem and scalability issues</a:t>
            </a:r>
            <a:endParaRPr lang="en-GB" sz="12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9767E-B416-7DC0-18ED-DBB1E72F0A98}"/>
              </a:ext>
            </a:extLst>
          </p:cNvPr>
          <p:cNvSpPr txBox="1"/>
          <p:nvPr/>
        </p:nvSpPr>
        <p:spPr>
          <a:xfrm>
            <a:off x="533400" y="660400"/>
            <a:ext cx="1066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01828"/>
                </a:solidFill>
                <a:latin typeface="Aptos" panose="020B0004020202020204" pitchFamily="34" charset="0"/>
              </a:rPr>
              <a:t>Problem Definition: Media Platforms Need Scalable Foundations</a:t>
            </a:r>
            <a:endParaRPr lang="en-GB" sz="3000" b="1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80418B-9976-EEB2-BE31-1F342840858B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3957C-D0CA-77C0-E6FB-3BBED81188BE}"/>
              </a:ext>
            </a:extLst>
          </p:cNvPr>
          <p:cNvSpPr txBox="1"/>
          <p:nvPr/>
        </p:nvSpPr>
        <p:spPr>
          <a:xfrm>
            <a:off x="685800" y="1803400"/>
            <a:ext cx="5207000" cy="34470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The coursework requires an Instagram-like web app for photo/media distribution with creator and consumer roles.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Creators need a dedicated upload view with metadata: title, caption, location and people present.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Consumers need a separate view to browse/search, view media, comment and rate posts.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The system must be deployable, cloud-native and able to scale beyond local development.</a:t>
            </a:r>
            <a:endParaRPr lang="en-GB" sz="1800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7B983C-E8BE-D6F0-E89E-D7ED9A31383E}"/>
              </a:ext>
            </a:extLst>
          </p:cNvPr>
          <p:cNvSpPr/>
          <p:nvPr/>
        </p:nvSpPr>
        <p:spPr>
          <a:xfrm>
            <a:off x="6350000" y="1905000"/>
            <a:ext cx="4572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C3785-DC6C-30B7-353C-B202CCF4753D}"/>
              </a:ext>
            </a:extLst>
          </p:cNvPr>
          <p:cNvSpPr/>
          <p:nvPr/>
        </p:nvSpPr>
        <p:spPr>
          <a:xfrm>
            <a:off x="6350000" y="1905000"/>
            <a:ext cx="88900" cy="2667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BCD73-602C-6982-A4D3-2C7FBFF17B68}"/>
              </a:ext>
            </a:extLst>
          </p:cNvPr>
          <p:cNvSpPr txBox="1"/>
          <p:nvPr/>
        </p:nvSpPr>
        <p:spPr>
          <a:xfrm>
            <a:off x="6578600" y="20828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Why scalability matters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34CC5-08AF-9875-BBEB-50C36CDA1F0C}"/>
              </a:ext>
            </a:extLst>
          </p:cNvPr>
          <p:cNvSpPr txBox="1"/>
          <p:nvPr/>
        </p:nvSpPr>
        <p:spPr>
          <a:xfrm>
            <a:off x="6578600" y="2514600"/>
            <a:ext cx="4191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Media files grow quickly, database writes increase with comments/ratings, frontend traffic can spike, and deployment must be repeatable without manual server changes.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A54142-761E-CB82-61CF-0C6A536588B4}"/>
              </a:ext>
            </a:extLst>
          </p:cNvPr>
          <p:cNvSpPr/>
          <p:nvPr/>
        </p:nvSpPr>
        <p:spPr>
          <a:xfrm>
            <a:off x="6350000" y="4826000"/>
            <a:ext cx="4572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525F8-F946-1798-6CA7-48A92C728625}"/>
              </a:ext>
            </a:extLst>
          </p:cNvPr>
          <p:cNvSpPr/>
          <p:nvPr/>
        </p:nvSpPr>
        <p:spPr>
          <a:xfrm>
            <a:off x="6350000" y="4826000"/>
            <a:ext cx="88900" cy="12700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0A403-C474-EBC2-DFF4-35305F6064C9}"/>
              </a:ext>
            </a:extLst>
          </p:cNvPr>
          <p:cNvSpPr txBox="1"/>
          <p:nvPr/>
        </p:nvSpPr>
        <p:spPr>
          <a:xfrm>
            <a:off x="6578600" y="50038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Core challenge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BE7DA-9604-5E03-5A65-5563C335F187}"/>
              </a:ext>
            </a:extLst>
          </p:cNvPr>
          <p:cNvSpPr txBox="1"/>
          <p:nvPr/>
        </p:nvSpPr>
        <p:spPr>
          <a:xfrm>
            <a:off x="6578600" y="5435600"/>
            <a:ext cx="4191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Separate large binary media storage from relational metadata while keeping a simple, testable deployment path.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478C74-84C8-1266-AEDC-6772B9742ECE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1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81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865424-AA3F-06E9-349D-F42C9DBBACAA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Aptos" panose="020B0004020202020204" pitchFamily="34" charset="0"/>
              </a:rPr>
              <a:t>Slides 1-2: Problem and scalability issues</a:t>
            </a:r>
            <a:endParaRPr lang="en-GB" sz="12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683AA-BF6C-A884-AA68-39F5AD8B5ED1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Scalability Issues Identified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6DB8F-93CF-0F37-B832-F8EB7BE3C68C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14F17C-9BC2-DB70-50FE-DC99FB450D0A}"/>
              </a:ext>
            </a:extLst>
          </p:cNvPr>
          <p:cNvSpPr/>
          <p:nvPr/>
        </p:nvSpPr>
        <p:spPr>
          <a:xfrm>
            <a:off x="685800" y="18415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541B37-CA14-AA48-5B0F-D45087394A68}"/>
              </a:ext>
            </a:extLst>
          </p:cNvPr>
          <p:cNvSpPr/>
          <p:nvPr/>
        </p:nvSpPr>
        <p:spPr>
          <a:xfrm>
            <a:off x="685800" y="1841500"/>
            <a:ext cx="88900" cy="1714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F498B-7B2A-8F6B-589F-BDEC8B168FD8}"/>
              </a:ext>
            </a:extLst>
          </p:cNvPr>
          <p:cNvSpPr txBox="1"/>
          <p:nvPr/>
        </p:nvSpPr>
        <p:spPr>
          <a:xfrm>
            <a:off x="914400" y="20193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Storage pressure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513A1-7D93-68D0-7541-5E2C16132534}"/>
              </a:ext>
            </a:extLst>
          </p:cNvPr>
          <p:cNvSpPr txBox="1"/>
          <p:nvPr/>
        </p:nvSpPr>
        <p:spPr>
          <a:xfrm>
            <a:off x="914400" y="2451100"/>
            <a:ext cx="2921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Images and videos are too large for a relational database. They require object/blob storage with URL-based retrieval.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381D3E-4827-046E-5264-1B8C16CC1576}"/>
              </a:ext>
            </a:extLst>
          </p:cNvPr>
          <p:cNvSpPr/>
          <p:nvPr/>
        </p:nvSpPr>
        <p:spPr>
          <a:xfrm>
            <a:off x="4419600" y="18415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32F26E-84C3-2822-4669-922E100BFC1D}"/>
              </a:ext>
            </a:extLst>
          </p:cNvPr>
          <p:cNvSpPr/>
          <p:nvPr/>
        </p:nvSpPr>
        <p:spPr>
          <a:xfrm>
            <a:off x="4419600" y="1841500"/>
            <a:ext cx="88900" cy="17145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347D6-FEFD-09E9-66EB-4DB3CA1B7932}"/>
              </a:ext>
            </a:extLst>
          </p:cNvPr>
          <p:cNvSpPr txBox="1"/>
          <p:nvPr/>
        </p:nvSpPr>
        <p:spPr>
          <a:xfrm>
            <a:off x="4648200" y="20193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Backend bottlenecks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E232E0-173D-185B-41D0-F17F5F20C3E5}"/>
              </a:ext>
            </a:extLst>
          </p:cNvPr>
          <p:cNvSpPr txBox="1"/>
          <p:nvPr/>
        </p:nvSpPr>
        <p:spPr>
          <a:xfrm>
            <a:off x="4648200" y="2451100"/>
            <a:ext cx="2921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Authentication, post creation, upload and analytics calls must be exposed through REST APIs and packaged consistently.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5574CC-5FC1-45C4-F3B3-0F02C1A400B1}"/>
              </a:ext>
            </a:extLst>
          </p:cNvPr>
          <p:cNvSpPr/>
          <p:nvPr/>
        </p:nvSpPr>
        <p:spPr>
          <a:xfrm>
            <a:off x="8153400" y="18415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A01244-0CF1-C8B4-A2F2-A3D5F1428CF7}"/>
              </a:ext>
            </a:extLst>
          </p:cNvPr>
          <p:cNvSpPr/>
          <p:nvPr/>
        </p:nvSpPr>
        <p:spPr>
          <a:xfrm>
            <a:off x="8153400" y="1841500"/>
            <a:ext cx="88900" cy="17145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589781-FD15-7CBE-D242-41DAFFCFB751}"/>
              </a:ext>
            </a:extLst>
          </p:cNvPr>
          <p:cNvSpPr txBox="1"/>
          <p:nvPr/>
        </p:nvSpPr>
        <p:spPr>
          <a:xfrm>
            <a:off x="8382000" y="20193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Database growth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B4762F-4890-6538-29D3-3849A57CBB32}"/>
              </a:ext>
            </a:extLst>
          </p:cNvPr>
          <p:cNvSpPr txBox="1"/>
          <p:nvPr/>
        </p:nvSpPr>
        <p:spPr>
          <a:xfrm>
            <a:off x="8382000" y="2451100"/>
            <a:ext cx="2921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Users, posts, media metadata, comments and ratings require relational integrity, backups and managed scaling.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B57849-EA5D-7B4F-D96B-5BE1EA67C4C2}"/>
              </a:ext>
            </a:extLst>
          </p:cNvPr>
          <p:cNvSpPr/>
          <p:nvPr/>
        </p:nvSpPr>
        <p:spPr>
          <a:xfrm>
            <a:off x="685800" y="40640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846409-FE4D-29D9-3359-A69A0FBFA3AF}"/>
              </a:ext>
            </a:extLst>
          </p:cNvPr>
          <p:cNvSpPr/>
          <p:nvPr/>
        </p:nvSpPr>
        <p:spPr>
          <a:xfrm>
            <a:off x="685800" y="4064000"/>
            <a:ext cx="88900" cy="17145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1056B0-4B42-FF4E-C921-AE9B43916353}"/>
              </a:ext>
            </a:extLst>
          </p:cNvPr>
          <p:cNvSpPr txBox="1"/>
          <p:nvPr/>
        </p:nvSpPr>
        <p:spPr>
          <a:xfrm>
            <a:off x="914400" y="42418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Deployment risk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CA76DF-DD43-D93B-14FD-3CBEE707A1D9}"/>
              </a:ext>
            </a:extLst>
          </p:cNvPr>
          <p:cNvSpPr txBox="1"/>
          <p:nvPr/>
        </p:nvSpPr>
        <p:spPr>
          <a:xfrm>
            <a:off x="914400" y="4673600"/>
            <a:ext cx="2921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Manual deployment creates drift. CI/CD and Docker images reduce configuration errors and make releases repeatable.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FAE000-608B-09C1-4D63-E9DC3A1942C5}"/>
              </a:ext>
            </a:extLst>
          </p:cNvPr>
          <p:cNvSpPr/>
          <p:nvPr/>
        </p:nvSpPr>
        <p:spPr>
          <a:xfrm>
            <a:off x="4419600" y="40640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C882CF-D4E2-D349-590B-E24A2AF91CFD}"/>
              </a:ext>
            </a:extLst>
          </p:cNvPr>
          <p:cNvSpPr/>
          <p:nvPr/>
        </p:nvSpPr>
        <p:spPr>
          <a:xfrm>
            <a:off x="4419600" y="4064000"/>
            <a:ext cx="88900" cy="1714500"/>
          </a:xfrm>
          <a:prstGeom prst="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5D6C6B-C266-B4B9-6DE7-2F685C92BBD2}"/>
              </a:ext>
            </a:extLst>
          </p:cNvPr>
          <p:cNvSpPr txBox="1"/>
          <p:nvPr/>
        </p:nvSpPr>
        <p:spPr>
          <a:xfrm>
            <a:off x="4648200" y="42418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Cost limitation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EEF0A2-C6FA-B4E1-D6BD-9959BE33EC36}"/>
              </a:ext>
            </a:extLst>
          </p:cNvPr>
          <p:cNvSpPr txBox="1"/>
          <p:nvPr/>
        </p:nvSpPr>
        <p:spPr>
          <a:xfrm>
            <a:off x="4648200" y="4673600"/>
            <a:ext cx="2921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The coursework allows free/low-cost services, so the design uses scalable patterns while acknowledging B1 tier constraints.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79CE36E-4DF4-6B6A-736B-F16D0249D110}"/>
              </a:ext>
            </a:extLst>
          </p:cNvPr>
          <p:cNvSpPr/>
          <p:nvPr/>
        </p:nvSpPr>
        <p:spPr>
          <a:xfrm>
            <a:off x="8153400" y="40640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1E44C4-9755-40D4-18E4-AFC5A40B5675}"/>
              </a:ext>
            </a:extLst>
          </p:cNvPr>
          <p:cNvSpPr/>
          <p:nvPr/>
        </p:nvSpPr>
        <p:spPr>
          <a:xfrm>
            <a:off x="8153400" y="4064000"/>
            <a:ext cx="88900" cy="1714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49E97C-C817-B78D-5B3D-063E0226C5F8}"/>
              </a:ext>
            </a:extLst>
          </p:cNvPr>
          <p:cNvSpPr txBox="1"/>
          <p:nvPr/>
        </p:nvSpPr>
        <p:spPr>
          <a:xfrm>
            <a:off x="8382000" y="42418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Future traffic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AA34F-5F97-4ADB-04F9-FE299F0FD79B}"/>
              </a:ext>
            </a:extLst>
          </p:cNvPr>
          <p:cNvSpPr txBox="1"/>
          <p:nvPr/>
        </p:nvSpPr>
        <p:spPr>
          <a:xfrm>
            <a:off x="8382000" y="4673600"/>
            <a:ext cx="2921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Caching, CDN/static hosting, object storage and containerised services make later scale-out possible.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021EB-5CBD-4ABA-F992-004649E01C5E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2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632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EAFE2F-24A1-C69B-C731-CB9E494871FB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 b="1">
                <a:solidFill>
                  <a:srgbClr val="2563EB"/>
                </a:solidFill>
                <a:latin typeface="Aptos" panose="020B0004020202020204" pitchFamily="34" charset="0"/>
              </a:rPr>
              <a:t>Slides 3-6: Technical solution developed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77C92-6E96-1174-0A3A-34FA6564D722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Technical Solution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014723-726B-3F4D-8D05-4B82C1EF5122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11E5F6-0B88-3AF3-B326-84D4563133F8}"/>
              </a:ext>
            </a:extLst>
          </p:cNvPr>
          <p:cNvSpPr/>
          <p:nvPr/>
        </p:nvSpPr>
        <p:spPr>
          <a:xfrm>
            <a:off x="609600" y="1879600"/>
            <a:ext cx="2413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3C52E-C896-415E-8291-28385B55541A}"/>
              </a:ext>
            </a:extLst>
          </p:cNvPr>
          <p:cNvSpPr/>
          <p:nvPr/>
        </p:nvSpPr>
        <p:spPr>
          <a:xfrm>
            <a:off x="609600" y="1879600"/>
            <a:ext cx="88900" cy="12700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3541E-DE84-FFA0-1B04-1BB4A74A771D}"/>
              </a:ext>
            </a:extLst>
          </p:cNvPr>
          <p:cNvSpPr txBox="1"/>
          <p:nvPr/>
        </p:nvSpPr>
        <p:spPr>
          <a:xfrm>
            <a:off x="838200" y="20574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5A03D-3294-7580-B4FD-C2EA475B2FD5}"/>
              </a:ext>
            </a:extLst>
          </p:cNvPr>
          <p:cNvSpPr txBox="1"/>
          <p:nvPr/>
        </p:nvSpPr>
        <p:spPr>
          <a:xfrm>
            <a:off x="838200" y="2489200"/>
            <a:ext cx="2032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React/Vite static website hosted from Azure Storage static website. Calls backend REST APIs.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61682F-EEEC-26E4-FF3B-2BC87911389A}"/>
              </a:ext>
            </a:extLst>
          </p:cNvPr>
          <p:cNvSpPr/>
          <p:nvPr/>
        </p:nvSpPr>
        <p:spPr>
          <a:xfrm>
            <a:off x="3619500" y="1879600"/>
            <a:ext cx="317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0B974E-F325-1CA2-C497-3E82A682D86D}"/>
              </a:ext>
            </a:extLst>
          </p:cNvPr>
          <p:cNvSpPr/>
          <p:nvPr/>
        </p:nvSpPr>
        <p:spPr>
          <a:xfrm>
            <a:off x="3619500" y="1879600"/>
            <a:ext cx="88900" cy="1587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A8ADF7-6822-3956-3448-D4F9C4189BBC}"/>
              </a:ext>
            </a:extLst>
          </p:cNvPr>
          <p:cNvSpPr txBox="1"/>
          <p:nvPr/>
        </p:nvSpPr>
        <p:spPr>
          <a:xfrm>
            <a:off x="3848100" y="20574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Single Backend Container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8FC96-EFB4-4161-3360-43CEE0534915}"/>
              </a:ext>
            </a:extLst>
          </p:cNvPr>
          <p:cNvSpPr txBox="1"/>
          <p:nvPr/>
        </p:nvSpPr>
        <p:spPr>
          <a:xfrm>
            <a:off x="3848100" y="2489200"/>
            <a:ext cx="2794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Spring Boot REST API packaged as Docker image. Auth, posts, media, interactions, analytics and AI endpoints.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F47BC7-6CFF-8EC6-9F8D-4DC04BA931B7}"/>
              </a:ext>
            </a:extLst>
          </p:cNvPr>
          <p:cNvSpPr/>
          <p:nvPr/>
        </p:nvSpPr>
        <p:spPr>
          <a:xfrm>
            <a:off x="7429500" y="1879600"/>
            <a:ext cx="31115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4EDDC-6609-D455-0267-55B3B160139D}"/>
              </a:ext>
            </a:extLst>
          </p:cNvPr>
          <p:cNvSpPr/>
          <p:nvPr/>
        </p:nvSpPr>
        <p:spPr>
          <a:xfrm>
            <a:off x="7429500" y="1879600"/>
            <a:ext cx="88900" cy="12700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7E1B8-786E-29E5-EEFB-F10F5DA483B2}"/>
              </a:ext>
            </a:extLst>
          </p:cNvPr>
          <p:cNvSpPr txBox="1"/>
          <p:nvPr/>
        </p:nvSpPr>
        <p:spPr>
          <a:xfrm>
            <a:off x="7658100" y="2057400"/>
            <a:ext cx="2730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Azure Blob 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07103B-01F7-5BE6-A528-896F3AFABCE4}"/>
              </a:ext>
            </a:extLst>
          </p:cNvPr>
          <p:cNvSpPr txBox="1"/>
          <p:nvPr/>
        </p:nvSpPr>
        <p:spPr>
          <a:xfrm>
            <a:off x="7658100" y="2489200"/>
            <a:ext cx="2730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Container: media. Stores uploaded image/video files and returns public media URLs.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369672-AE2F-A276-0098-D1018A8E20F9}"/>
              </a:ext>
            </a:extLst>
          </p:cNvPr>
          <p:cNvSpPr/>
          <p:nvPr/>
        </p:nvSpPr>
        <p:spPr>
          <a:xfrm>
            <a:off x="7429500" y="3835400"/>
            <a:ext cx="31115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AD5DB7-4B90-507C-70CB-076E9FDB8EF2}"/>
              </a:ext>
            </a:extLst>
          </p:cNvPr>
          <p:cNvSpPr/>
          <p:nvPr/>
        </p:nvSpPr>
        <p:spPr>
          <a:xfrm>
            <a:off x="7429500" y="3835400"/>
            <a:ext cx="88900" cy="12700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E0719C-6378-2190-FB23-DA111970FAE8}"/>
              </a:ext>
            </a:extLst>
          </p:cNvPr>
          <p:cNvSpPr txBox="1"/>
          <p:nvPr/>
        </p:nvSpPr>
        <p:spPr>
          <a:xfrm>
            <a:off x="7658100" y="4013200"/>
            <a:ext cx="2730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MySQL Flexible Server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136BFF-F1FC-B246-EA56-8B73F66C8DB2}"/>
              </a:ext>
            </a:extLst>
          </p:cNvPr>
          <p:cNvSpPr txBox="1"/>
          <p:nvPr/>
        </p:nvSpPr>
        <p:spPr>
          <a:xfrm>
            <a:off x="7658100" y="4445000"/>
            <a:ext cx="2730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Combined database ai_media_db stores users, posts, comments, ratings and media metadata.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2CBE80-FE0A-4BF8-C034-8B1E8AA316B5}"/>
              </a:ext>
            </a:extLst>
          </p:cNvPr>
          <p:cNvSpPr/>
          <p:nvPr/>
        </p:nvSpPr>
        <p:spPr>
          <a:xfrm>
            <a:off x="3619500" y="4191000"/>
            <a:ext cx="3175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ECB5EA-6995-566C-58D0-A5EC9156F768}"/>
              </a:ext>
            </a:extLst>
          </p:cNvPr>
          <p:cNvSpPr/>
          <p:nvPr/>
        </p:nvSpPr>
        <p:spPr>
          <a:xfrm>
            <a:off x="3619500" y="4191000"/>
            <a:ext cx="88900" cy="1270000"/>
          </a:xfrm>
          <a:prstGeom prst="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6C5324-73D7-2844-BF25-D0B73FA56D6B}"/>
              </a:ext>
            </a:extLst>
          </p:cNvPr>
          <p:cNvSpPr txBox="1"/>
          <p:nvPr/>
        </p:nvSpPr>
        <p:spPr>
          <a:xfrm>
            <a:off x="3848100" y="43688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CI/CD + ACR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F40590-A321-525C-6BFC-1EE190512000}"/>
              </a:ext>
            </a:extLst>
          </p:cNvPr>
          <p:cNvSpPr txBox="1"/>
          <p:nvPr/>
        </p:nvSpPr>
        <p:spPr>
          <a:xfrm>
            <a:off x="3848100" y="4800600"/>
            <a:ext cx="2794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GitHub Actions builds Docker image, pushes to Azure Container Registry and deploys backend/frontend.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15A542-EDE6-495C-CB4B-55942A540592}"/>
              </a:ext>
            </a:extLst>
          </p:cNvPr>
          <p:cNvSpPr txBox="1"/>
          <p:nvPr/>
        </p:nvSpPr>
        <p:spPr>
          <a:xfrm>
            <a:off x="812800" y="59436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 b="1">
                <a:solidFill>
                  <a:srgbClr val="101828"/>
                </a:solidFill>
                <a:latin typeface="Aptos" panose="020B0004020202020204" pitchFamily="34" charset="0"/>
              </a:rPr>
              <a:t>Flow: User -&gt; Static frontend -&gt; REST API -&gt; Blob for files + MySQL for metadata</a:t>
            </a:r>
            <a:endParaRPr lang="en-GB" sz="1800" b="1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02E2DF-57F9-119B-1744-CC1D41632B09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3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985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2D2A0-6BBC-2E1C-7DE8-D8265978B14F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 b="1">
                <a:solidFill>
                  <a:srgbClr val="2563EB"/>
                </a:solidFill>
                <a:latin typeface="Aptos" panose="020B0004020202020204" pitchFamily="34" charset="0"/>
              </a:rPr>
              <a:t>Slides 3-6: Technical solution developed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F6C71-EFF7-9F42-DCE9-36DF18F969EC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01828"/>
                </a:solidFill>
                <a:latin typeface="Aptos" panose="020B0004020202020204" pitchFamily="34" charset="0"/>
              </a:rPr>
              <a:t>Frontend and REST API Design</a:t>
            </a:r>
            <a:endParaRPr lang="en-GB" sz="3000" b="1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237EE-F303-859D-0CC6-00F6F5540692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61D17-3774-2FE8-6B1B-4588259F2CF8}"/>
              </a:ext>
            </a:extLst>
          </p:cNvPr>
          <p:cNvSpPr txBox="1"/>
          <p:nvPr/>
        </p:nvSpPr>
        <p:spPr>
          <a:xfrm>
            <a:off x="685800" y="1841500"/>
            <a:ext cx="5207000" cy="3170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React SPA provides Feed, Search, Profile, Creator Upload, Analytics and Post Detail views.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Creator role controls access to media upload and publish workflows.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Frontend is built by GitHub Actions with VITE_API_BASE_URL pointing to the Azure backend.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Static hosting separates frontend delivery from backend compute, improving cacheability and reducing server load.</a:t>
            </a:r>
            <a:endParaRPr lang="en-GB" sz="1800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CC8317-1EC0-C12A-363A-57ED59BCB66C}"/>
              </a:ext>
            </a:extLst>
          </p:cNvPr>
          <p:cNvSpPr/>
          <p:nvPr/>
        </p:nvSpPr>
        <p:spPr>
          <a:xfrm>
            <a:off x="6477000" y="1841500"/>
            <a:ext cx="469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40349B-8A55-66E6-945B-098DD511096E}"/>
              </a:ext>
            </a:extLst>
          </p:cNvPr>
          <p:cNvSpPr/>
          <p:nvPr/>
        </p:nvSpPr>
        <p:spPr>
          <a:xfrm>
            <a:off x="6477000" y="1841500"/>
            <a:ext cx="88900" cy="1168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E66B8-F2AF-8C48-5B0E-00FAB41D1D1A}"/>
              </a:ext>
            </a:extLst>
          </p:cNvPr>
          <p:cNvSpPr txBox="1"/>
          <p:nvPr/>
        </p:nvSpPr>
        <p:spPr>
          <a:xfrm>
            <a:off x="6705600" y="20193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Live frontend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5D79F-ED7E-6E03-CD29-3258B7C93472}"/>
              </a:ext>
            </a:extLst>
          </p:cNvPr>
          <p:cNvSpPr txBox="1"/>
          <p:nvPr/>
        </p:nvSpPr>
        <p:spPr>
          <a:xfrm>
            <a:off x="6705600" y="24511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300">
                <a:solidFill>
                  <a:srgbClr val="667085"/>
                </a:solidFill>
                <a:latin typeface="Aptos" panose="020B0004020202020204" pitchFamily="34" charset="0"/>
              </a:rPr>
              <a:t>https://aiappmedia786.z1.web.core.windows.net/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89BE45-298C-EFDC-6663-DBD43FE73EC4}"/>
              </a:ext>
            </a:extLst>
          </p:cNvPr>
          <p:cNvSpPr/>
          <p:nvPr/>
        </p:nvSpPr>
        <p:spPr>
          <a:xfrm>
            <a:off x="6477000" y="3302000"/>
            <a:ext cx="469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610ECC-842E-AA51-C404-2BF749E8325A}"/>
              </a:ext>
            </a:extLst>
          </p:cNvPr>
          <p:cNvSpPr/>
          <p:nvPr/>
        </p:nvSpPr>
        <p:spPr>
          <a:xfrm>
            <a:off x="6477000" y="3302000"/>
            <a:ext cx="88900" cy="11684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89C7B8-163C-0816-E21B-E3D303090E02}"/>
              </a:ext>
            </a:extLst>
          </p:cNvPr>
          <p:cNvSpPr txBox="1"/>
          <p:nvPr/>
        </p:nvSpPr>
        <p:spPr>
          <a:xfrm>
            <a:off x="6705600" y="34798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Live backend API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016183-D857-32AB-7D75-5D38003BE355}"/>
              </a:ext>
            </a:extLst>
          </p:cNvPr>
          <p:cNvSpPr txBox="1"/>
          <p:nvPr/>
        </p:nvSpPr>
        <p:spPr>
          <a:xfrm>
            <a:off x="6705600" y="3911600"/>
            <a:ext cx="431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300">
                <a:solidFill>
                  <a:srgbClr val="667085"/>
                </a:solidFill>
                <a:latin typeface="Aptos" panose="020B0004020202020204" pitchFamily="34" charset="0"/>
              </a:rPr>
              <a:t>https://ai-media-gateway-786.azurewebsites.net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137512-7ADA-2A34-9A70-919BA38433E6}"/>
              </a:ext>
            </a:extLst>
          </p:cNvPr>
          <p:cNvSpPr/>
          <p:nvPr/>
        </p:nvSpPr>
        <p:spPr>
          <a:xfrm>
            <a:off x="6477000" y="4762500"/>
            <a:ext cx="469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090B7C-4B70-71BD-A46B-F14CD43CCDF8}"/>
              </a:ext>
            </a:extLst>
          </p:cNvPr>
          <p:cNvSpPr/>
          <p:nvPr/>
        </p:nvSpPr>
        <p:spPr>
          <a:xfrm>
            <a:off x="6477000" y="4762500"/>
            <a:ext cx="88900" cy="11684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9A70B8-680A-3ECA-5F07-C5584364D18E}"/>
              </a:ext>
            </a:extLst>
          </p:cNvPr>
          <p:cNvSpPr txBox="1"/>
          <p:nvPr/>
        </p:nvSpPr>
        <p:spPr>
          <a:xfrm>
            <a:off x="6705600" y="49403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Health endpoint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DFE79B-636C-C8BF-72B3-58CAE7D247DE}"/>
              </a:ext>
            </a:extLst>
          </p:cNvPr>
          <p:cNvSpPr txBox="1"/>
          <p:nvPr/>
        </p:nvSpPr>
        <p:spPr>
          <a:xfrm>
            <a:off x="6705600" y="5372100"/>
            <a:ext cx="431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/actuator/health confirms container readiness after deployment.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1916E-7959-5483-CF6F-F7E79C77C0A9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4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31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3D0B31-144E-47B4-EBAF-4A05A9FF8376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 b="1">
                <a:solidFill>
                  <a:srgbClr val="2563EB"/>
                </a:solidFill>
                <a:latin typeface="Aptos" panose="020B0004020202020204" pitchFamily="34" charset="0"/>
              </a:rPr>
              <a:t>Slides 3-6: Technical solution developed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96B67-3B10-6912-5954-79E709630C9A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Backend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87E5E-D198-815A-6D0F-F72DA3B75525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FD9B39-84AC-40DC-02E7-2FE8A01AEFD7}"/>
              </a:ext>
            </a:extLst>
          </p:cNvPr>
          <p:cNvSpPr/>
          <p:nvPr/>
        </p:nvSpPr>
        <p:spPr>
          <a:xfrm>
            <a:off x="685800" y="1841500"/>
            <a:ext cx="3238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5F3F5-AA6B-53F7-77D4-1EB611562248}"/>
              </a:ext>
            </a:extLst>
          </p:cNvPr>
          <p:cNvSpPr/>
          <p:nvPr/>
        </p:nvSpPr>
        <p:spPr>
          <a:xfrm>
            <a:off x="685800" y="1841500"/>
            <a:ext cx="88900" cy="1905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D02A6-7D78-8F3D-443F-F826281C78BE}"/>
              </a:ext>
            </a:extLst>
          </p:cNvPr>
          <p:cNvSpPr txBox="1"/>
          <p:nvPr/>
        </p:nvSpPr>
        <p:spPr>
          <a:xfrm>
            <a:off x="914400" y="2019300"/>
            <a:ext cx="28575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Spring Boot single backend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B5DA3-B85A-C165-F62C-A35A98DA0E8E}"/>
              </a:ext>
            </a:extLst>
          </p:cNvPr>
          <p:cNvSpPr txBox="1"/>
          <p:nvPr/>
        </p:nvSpPr>
        <p:spPr>
          <a:xfrm>
            <a:off x="914400" y="2451100"/>
            <a:ext cx="28575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 consolidated backend container keeps the live B1 deployment affordable while still using modular packages internally.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E108B4-2F64-AE46-3BA5-5C011CD1402D}"/>
              </a:ext>
            </a:extLst>
          </p:cNvPr>
          <p:cNvSpPr/>
          <p:nvPr/>
        </p:nvSpPr>
        <p:spPr>
          <a:xfrm>
            <a:off x="4419600" y="1841500"/>
            <a:ext cx="3238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69E997-E60A-E71E-5546-2FC78A0B3E8A}"/>
              </a:ext>
            </a:extLst>
          </p:cNvPr>
          <p:cNvSpPr/>
          <p:nvPr/>
        </p:nvSpPr>
        <p:spPr>
          <a:xfrm>
            <a:off x="4419600" y="1841500"/>
            <a:ext cx="88900" cy="19050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F6DCC0-FDAC-A6D8-EE6D-D95FB6B74403}"/>
              </a:ext>
            </a:extLst>
          </p:cNvPr>
          <p:cNvSpPr txBox="1"/>
          <p:nvPr/>
        </p:nvSpPr>
        <p:spPr>
          <a:xfrm>
            <a:off x="4648200" y="20193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Domain modules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C87374-29FF-7081-3088-AD8E3DE3A1F3}"/>
              </a:ext>
            </a:extLst>
          </p:cNvPr>
          <p:cNvSpPr txBox="1"/>
          <p:nvPr/>
        </p:nvSpPr>
        <p:spPr>
          <a:xfrm>
            <a:off x="4648200" y="2451100"/>
            <a:ext cx="2857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auth, user, post, interaction, media and ai packages provide clear separation of responsibilities.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A52260-D307-C239-00C4-B97611EA946C}"/>
              </a:ext>
            </a:extLst>
          </p:cNvPr>
          <p:cNvSpPr/>
          <p:nvPr/>
        </p:nvSpPr>
        <p:spPr>
          <a:xfrm>
            <a:off x="8153400" y="1841500"/>
            <a:ext cx="32385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7AB3B3-2A3A-3672-EBAB-53171B6CCB66}"/>
              </a:ext>
            </a:extLst>
          </p:cNvPr>
          <p:cNvSpPr/>
          <p:nvPr/>
        </p:nvSpPr>
        <p:spPr>
          <a:xfrm>
            <a:off x="8153400" y="1841500"/>
            <a:ext cx="88900" cy="19050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AE0E72-C6DE-9F03-BCBA-33F4A11067F3}"/>
              </a:ext>
            </a:extLst>
          </p:cNvPr>
          <p:cNvSpPr txBox="1"/>
          <p:nvPr/>
        </p:nvSpPr>
        <p:spPr>
          <a:xfrm>
            <a:off x="8382000" y="20193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REST endpoints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5103E4-B18F-211B-0748-A4782B94DA61}"/>
              </a:ext>
            </a:extLst>
          </p:cNvPr>
          <p:cNvSpPr txBox="1"/>
          <p:nvPr/>
        </p:nvSpPr>
        <p:spPr>
          <a:xfrm>
            <a:off x="8382000" y="2451100"/>
            <a:ext cx="2857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/api/auth, /api/posts, /api/media, /api/interactions, /api/analytics and /api/ai.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8112A7-98D4-0ADE-B655-82EB16693F3B}"/>
              </a:ext>
            </a:extLst>
          </p:cNvPr>
          <p:cNvSpPr/>
          <p:nvPr/>
        </p:nvSpPr>
        <p:spPr>
          <a:xfrm>
            <a:off x="685800" y="4191000"/>
            <a:ext cx="3238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380179-EB58-0DC7-06B0-E7E3172D5837}"/>
              </a:ext>
            </a:extLst>
          </p:cNvPr>
          <p:cNvSpPr/>
          <p:nvPr/>
        </p:nvSpPr>
        <p:spPr>
          <a:xfrm>
            <a:off x="685800" y="4191000"/>
            <a:ext cx="88900" cy="16510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8244CB-D3FF-4168-8E16-4FA7B120B8D9}"/>
              </a:ext>
            </a:extLst>
          </p:cNvPr>
          <p:cNvSpPr txBox="1"/>
          <p:nvPr/>
        </p:nvSpPr>
        <p:spPr>
          <a:xfrm>
            <a:off x="914400" y="43688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Packaging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85E6B3-2220-929F-CFAA-35918CF54D4D}"/>
              </a:ext>
            </a:extLst>
          </p:cNvPr>
          <p:cNvSpPr txBox="1"/>
          <p:nvPr/>
        </p:nvSpPr>
        <p:spPr>
          <a:xfrm>
            <a:off x="914400" y="4800600"/>
            <a:ext cx="28575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Maven builds a Java 17 JAR. Dockerfile creates aimedia-single-backend image for Azure deployment.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16FDD3-7808-00D1-3C53-75BBCEBEB80F}"/>
              </a:ext>
            </a:extLst>
          </p:cNvPr>
          <p:cNvSpPr/>
          <p:nvPr/>
        </p:nvSpPr>
        <p:spPr>
          <a:xfrm>
            <a:off x="4419600" y="4191000"/>
            <a:ext cx="3238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2BF6F2-3EAA-1975-1806-8CEE7AA63454}"/>
              </a:ext>
            </a:extLst>
          </p:cNvPr>
          <p:cNvSpPr/>
          <p:nvPr/>
        </p:nvSpPr>
        <p:spPr>
          <a:xfrm>
            <a:off x="4419600" y="4191000"/>
            <a:ext cx="88900" cy="1651000"/>
          </a:xfrm>
          <a:prstGeom prst="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21AC4B-6F82-0ECE-BEB7-9C303CE8795D}"/>
              </a:ext>
            </a:extLst>
          </p:cNvPr>
          <p:cNvSpPr txBox="1"/>
          <p:nvPr/>
        </p:nvSpPr>
        <p:spPr>
          <a:xfrm>
            <a:off x="4648200" y="43688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Health and operations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E60336-1AD4-821D-38CA-03FC989045F3}"/>
              </a:ext>
            </a:extLst>
          </p:cNvPr>
          <p:cNvSpPr txBox="1"/>
          <p:nvPr/>
        </p:nvSpPr>
        <p:spPr>
          <a:xfrm>
            <a:off x="4648200" y="4800600"/>
            <a:ext cx="28575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Actuator health supports App Service warm-up and live monitoring checks.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E8EE35-A089-6FB0-4D2F-760854D165A2}"/>
              </a:ext>
            </a:extLst>
          </p:cNvPr>
          <p:cNvSpPr/>
          <p:nvPr/>
        </p:nvSpPr>
        <p:spPr>
          <a:xfrm>
            <a:off x="8153400" y="4191000"/>
            <a:ext cx="3238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46FA39-A2E7-8755-CD3C-CCABB19498C0}"/>
              </a:ext>
            </a:extLst>
          </p:cNvPr>
          <p:cNvSpPr/>
          <p:nvPr/>
        </p:nvSpPr>
        <p:spPr>
          <a:xfrm>
            <a:off x="8153400" y="4191000"/>
            <a:ext cx="88900" cy="1651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FD1A4F-C18A-EDCF-605C-D5626782A66D}"/>
              </a:ext>
            </a:extLst>
          </p:cNvPr>
          <p:cNvSpPr txBox="1"/>
          <p:nvPr/>
        </p:nvSpPr>
        <p:spPr>
          <a:xfrm>
            <a:off x="8382000" y="4368800"/>
            <a:ext cx="2857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Future scale path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85E164-E367-A70C-D650-0E68882BBFA4}"/>
              </a:ext>
            </a:extLst>
          </p:cNvPr>
          <p:cNvSpPr txBox="1"/>
          <p:nvPr/>
        </p:nvSpPr>
        <p:spPr>
          <a:xfrm>
            <a:off x="8382000" y="4800600"/>
            <a:ext cx="2857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The same image can be moved to Azure Container Apps or Kubernetes for autoscaling replicas.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64E44F-698D-4DD1-4CE3-49A8D4E7770C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5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94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C2F94E-B50E-E7A7-E039-FF1D02756FCD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 b="1">
                <a:solidFill>
                  <a:srgbClr val="2563EB"/>
                </a:solidFill>
                <a:latin typeface="Aptos" panose="020B0004020202020204" pitchFamily="34" charset="0"/>
              </a:rPr>
              <a:t>Slides 3-6: Technical solution developed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7626A-3339-25A9-5E63-52F49500E8F1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Data, Storage and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ADA22-6B87-5DBC-9993-65F8D4359134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640F0-22E3-5CA2-2EE2-7B6A12B7255E}"/>
              </a:ext>
            </a:extLst>
          </p:cNvPr>
          <p:cNvSpPr txBox="1"/>
          <p:nvPr/>
        </p:nvSpPr>
        <p:spPr>
          <a:xfrm>
            <a:off x="685800" y="1841500"/>
            <a:ext cx="5334000" cy="34470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Azure Blob Storage stores binary media in the media container.</a:t>
            </a:r>
          </a:p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MySQL ai_media_db stores structured metadata: users, posts, comments, ratings and media asset records.</a:t>
            </a:r>
          </a:p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JWT-based authentication supports login/register and stores role claims for creator/consumer workflows.</a:t>
            </a:r>
          </a:p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Private networking connects backend to MySQL through VNet and private DNS, reducing public exposure.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91C497-40D5-891A-FDBC-098BB97BC7AA}"/>
              </a:ext>
            </a:extLst>
          </p:cNvPr>
          <p:cNvSpPr/>
          <p:nvPr/>
        </p:nvSpPr>
        <p:spPr>
          <a:xfrm>
            <a:off x="6540500" y="1905000"/>
            <a:ext cx="4572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43A22-18F2-3755-A534-2BA226344790}"/>
              </a:ext>
            </a:extLst>
          </p:cNvPr>
          <p:cNvSpPr/>
          <p:nvPr/>
        </p:nvSpPr>
        <p:spPr>
          <a:xfrm>
            <a:off x="6540500" y="1905000"/>
            <a:ext cx="88900" cy="18415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256F9-67F5-5CD9-0F17-87A34F2388B6}"/>
              </a:ext>
            </a:extLst>
          </p:cNvPr>
          <p:cNvSpPr txBox="1"/>
          <p:nvPr/>
        </p:nvSpPr>
        <p:spPr>
          <a:xfrm>
            <a:off x="6769100" y="20828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Blob pattern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CF088-643D-5ADF-B157-317FE945619F}"/>
              </a:ext>
            </a:extLst>
          </p:cNvPr>
          <p:cNvSpPr txBox="1"/>
          <p:nvPr/>
        </p:nvSpPr>
        <p:spPr>
          <a:xfrm>
            <a:off x="6769100" y="2514600"/>
            <a:ext cx="4191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Files: image/video bytes in object storage. Database: URL, type, filename, size, content type and post relationships.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7647CC-FB60-D7C7-DA8E-54C1035AB60C}"/>
              </a:ext>
            </a:extLst>
          </p:cNvPr>
          <p:cNvSpPr/>
          <p:nvPr/>
        </p:nvSpPr>
        <p:spPr>
          <a:xfrm>
            <a:off x="6540500" y="4127500"/>
            <a:ext cx="4572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905B5-8504-DE13-5D52-2C28CAD906CF}"/>
              </a:ext>
            </a:extLst>
          </p:cNvPr>
          <p:cNvSpPr/>
          <p:nvPr/>
        </p:nvSpPr>
        <p:spPr>
          <a:xfrm>
            <a:off x="6540500" y="4127500"/>
            <a:ext cx="88900" cy="1498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D79F6F-4425-7CCA-0B1C-899F431F22AB}"/>
              </a:ext>
            </a:extLst>
          </p:cNvPr>
          <p:cNvSpPr txBox="1"/>
          <p:nvPr/>
        </p:nvSpPr>
        <p:spPr>
          <a:xfrm>
            <a:off x="6769100" y="4305300"/>
            <a:ext cx="419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Combined database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8D16F-7441-D73A-F51A-E180DD271A85}"/>
              </a:ext>
            </a:extLst>
          </p:cNvPr>
          <p:cNvSpPr txBox="1"/>
          <p:nvPr/>
        </p:nvSpPr>
        <p:spPr>
          <a:xfrm>
            <a:off x="6769100" y="4737100"/>
            <a:ext cx="4191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 single combined MySQL schema lowers cost and operational complexity for the coursework deployment.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2E64D-730E-0884-04CE-283EBDE12103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6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29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B2C20-F01B-14FA-3021-70EF0C2F96F4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 b="1">
                <a:solidFill>
                  <a:srgbClr val="2563EB"/>
                </a:solidFill>
                <a:latin typeface="Aptos" panose="020B0004020202020204" pitchFamily="34" charset="0"/>
              </a:rPr>
              <a:t>Slides 3-6: Technical solution developed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D5A2B-7130-F688-86D0-592303D8A452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CI/CD, Containerisation and Deployment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DF8AF-4530-6309-425C-1CB929E7600C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D4EE6C-7CA9-8D47-7892-2638B36761F7}"/>
              </a:ext>
            </a:extLst>
          </p:cNvPr>
          <p:cNvSpPr/>
          <p:nvPr/>
        </p:nvSpPr>
        <p:spPr>
          <a:xfrm>
            <a:off x="685800" y="1841500"/>
            <a:ext cx="3175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894FA-6E15-2AE8-640A-80BCA63C19CE}"/>
              </a:ext>
            </a:extLst>
          </p:cNvPr>
          <p:cNvSpPr/>
          <p:nvPr/>
        </p:nvSpPr>
        <p:spPr>
          <a:xfrm>
            <a:off x="685800" y="1841500"/>
            <a:ext cx="88900" cy="1524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6FC8A-89EB-4B19-FA66-8118D247F279}"/>
              </a:ext>
            </a:extLst>
          </p:cNvPr>
          <p:cNvSpPr txBox="1"/>
          <p:nvPr/>
        </p:nvSpPr>
        <p:spPr>
          <a:xfrm>
            <a:off x="914400" y="20193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GitHub repository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D1C0A9-844C-6652-6E2D-23A6656E0361}"/>
              </a:ext>
            </a:extLst>
          </p:cNvPr>
          <p:cNvSpPr txBox="1"/>
          <p:nvPr/>
        </p:nvSpPr>
        <p:spPr>
          <a:xfrm>
            <a:off x="914400" y="2451100"/>
            <a:ext cx="2794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Source code, workflows, frontend and backend are versioned in GitHub.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9352CD-E0E8-6695-34ED-CA97EABB4501}"/>
              </a:ext>
            </a:extLst>
          </p:cNvPr>
          <p:cNvSpPr/>
          <p:nvPr/>
        </p:nvSpPr>
        <p:spPr>
          <a:xfrm>
            <a:off x="4495800" y="1841500"/>
            <a:ext cx="3175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7555E0-739C-A123-B03B-A4F7EDB49D36}"/>
              </a:ext>
            </a:extLst>
          </p:cNvPr>
          <p:cNvSpPr/>
          <p:nvPr/>
        </p:nvSpPr>
        <p:spPr>
          <a:xfrm>
            <a:off x="4495800" y="1841500"/>
            <a:ext cx="88900" cy="15240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36AC3-A367-11A9-1E7D-79E7A95EF0EB}"/>
              </a:ext>
            </a:extLst>
          </p:cNvPr>
          <p:cNvSpPr txBox="1"/>
          <p:nvPr/>
        </p:nvSpPr>
        <p:spPr>
          <a:xfrm>
            <a:off x="4724400" y="20193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Build pipeline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F40B7-42F9-2A14-07EB-875AFD440EAE}"/>
              </a:ext>
            </a:extLst>
          </p:cNvPr>
          <p:cNvSpPr txBox="1"/>
          <p:nvPr/>
        </p:nvSpPr>
        <p:spPr>
          <a:xfrm>
            <a:off x="4724400" y="2451100"/>
            <a:ext cx="2794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GitHub Actions builds the backend Docker image and frontend production bundle.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B3EF45-2F79-B023-C8A5-698EF6E4271B}"/>
              </a:ext>
            </a:extLst>
          </p:cNvPr>
          <p:cNvSpPr/>
          <p:nvPr/>
        </p:nvSpPr>
        <p:spPr>
          <a:xfrm>
            <a:off x="8305800" y="1841500"/>
            <a:ext cx="3175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56AB5-6220-D7E1-D9D5-BF1643010133}"/>
              </a:ext>
            </a:extLst>
          </p:cNvPr>
          <p:cNvSpPr/>
          <p:nvPr/>
        </p:nvSpPr>
        <p:spPr>
          <a:xfrm>
            <a:off x="8305800" y="1841500"/>
            <a:ext cx="88900" cy="15240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0A476-5E82-C1C6-D818-E998891399B8}"/>
              </a:ext>
            </a:extLst>
          </p:cNvPr>
          <p:cNvSpPr txBox="1"/>
          <p:nvPr/>
        </p:nvSpPr>
        <p:spPr>
          <a:xfrm>
            <a:off x="8534400" y="20193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Container registry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2BE51D-5581-05BE-8522-19D0C9C816BD}"/>
              </a:ext>
            </a:extLst>
          </p:cNvPr>
          <p:cNvSpPr txBox="1"/>
          <p:nvPr/>
        </p:nvSpPr>
        <p:spPr>
          <a:xfrm>
            <a:off x="8534400" y="2451100"/>
            <a:ext cx="2794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Azure Container Registry stores aimedia-single-backend:latest and SHA-tagged images.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2A25B7-1C21-53B4-BEB3-0D2F92F9D02B}"/>
              </a:ext>
            </a:extLst>
          </p:cNvPr>
          <p:cNvSpPr/>
          <p:nvPr/>
        </p:nvSpPr>
        <p:spPr>
          <a:xfrm>
            <a:off x="685800" y="4064000"/>
            <a:ext cx="3175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D197B7-A625-9701-0022-0D45AFDF479B}"/>
              </a:ext>
            </a:extLst>
          </p:cNvPr>
          <p:cNvSpPr/>
          <p:nvPr/>
        </p:nvSpPr>
        <p:spPr>
          <a:xfrm>
            <a:off x="685800" y="4064000"/>
            <a:ext cx="88900" cy="17145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D28489-DADD-AF49-A398-F236023D87E0}"/>
              </a:ext>
            </a:extLst>
          </p:cNvPr>
          <p:cNvSpPr txBox="1"/>
          <p:nvPr/>
        </p:nvSpPr>
        <p:spPr>
          <a:xfrm>
            <a:off x="914400" y="42418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Deployment 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DE13A0-1FF4-A6FC-B9D8-B9C65A9279F6}"/>
              </a:ext>
            </a:extLst>
          </p:cNvPr>
          <p:cNvSpPr txBox="1"/>
          <p:nvPr/>
        </p:nvSpPr>
        <p:spPr>
          <a:xfrm>
            <a:off x="914400" y="4673600"/>
            <a:ext cx="2794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Workflow deploys backend container to Azure Web App and uploads frontend to Azure Storage static website.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9ABE53-1964-BDFB-1B7D-BFCC8F51A9E9}"/>
              </a:ext>
            </a:extLst>
          </p:cNvPr>
          <p:cNvSpPr/>
          <p:nvPr/>
        </p:nvSpPr>
        <p:spPr>
          <a:xfrm>
            <a:off x="4495800" y="4064000"/>
            <a:ext cx="3175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12B0FE-2A91-3648-5838-54C885562759}"/>
              </a:ext>
            </a:extLst>
          </p:cNvPr>
          <p:cNvSpPr/>
          <p:nvPr/>
        </p:nvSpPr>
        <p:spPr>
          <a:xfrm>
            <a:off x="4495800" y="4064000"/>
            <a:ext cx="88900" cy="1714500"/>
          </a:xfrm>
          <a:prstGeom prst="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E11E0B-4CD1-5DD4-B6E3-109014D3EF21}"/>
              </a:ext>
            </a:extLst>
          </p:cNvPr>
          <p:cNvSpPr txBox="1"/>
          <p:nvPr/>
        </p:nvSpPr>
        <p:spPr>
          <a:xfrm>
            <a:off x="4724400" y="42418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Repeatability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7B4287-10BB-3425-A50B-F1907069410E}"/>
              </a:ext>
            </a:extLst>
          </p:cNvPr>
          <p:cNvSpPr txBox="1"/>
          <p:nvPr/>
        </p:nvSpPr>
        <p:spPr>
          <a:xfrm>
            <a:off x="4724400" y="4673600"/>
            <a:ext cx="2794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Every push to main can rebuild, push and redeploy without manual server packaging.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1AA2815-46EE-0B9D-B99F-6AA2ECFF8507}"/>
              </a:ext>
            </a:extLst>
          </p:cNvPr>
          <p:cNvSpPr/>
          <p:nvPr/>
        </p:nvSpPr>
        <p:spPr>
          <a:xfrm>
            <a:off x="8305800" y="4064000"/>
            <a:ext cx="3175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D0134D-0BB5-11DF-E13F-130482737B0F}"/>
              </a:ext>
            </a:extLst>
          </p:cNvPr>
          <p:cNvSpPr/>
          <p:nvPr/>
        </p:nvSpPr>
        <p:spPr>
          <a:xfrm>
            <a:off x="8305800" y="4064000"/>
            <a:ext cx="88900" cy="1714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D3E73E-A139-B1E6-D83A-DB05B620FA12}"/>
              </a:ext>
            </a:extLst>
          </p:cNvPr>
          <p:cNvSpPr txBox="1"/>
          <p:nvPr/>
        </p:nvSpPr>
        <p:spPr>
          <a:xfrm>
            <a:off x="8534400" y="42418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Verification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415CBC-73D3-4A0D-E43D-6C91415837DB}"/>
              </a:ext>
            </a:extLst>
          </p:cNvPr>
          <p:cNvSpPr txBox="1"/>
          <p:nvPr/>
        </p:nvSpPr>
        <p:spPr>
          <a:xfrm>
            <a:off x="8534400" y="4673600"/>
            <a:ext cx="2794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Smoke tests used: health endpoint, registration, AI endpoint, media upload to Blob and frontend HTTP 200.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87316B-620D-814F-32DF-3A069F3284CD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7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818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FA2F1-642C-921C-EF65-801281F981B2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 b="1">
                <a:solidFill>
                  <a:srgbClr val="2563EB"/>
                </a:solidFill>
                <a:latin typeface="Aptos" panose="020B0004020202020204" pitchFamily="34" charset="0"/>
              </a:rPr>
              <a:t>Slides 7-8: Advanced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7459D-419A-D241-9A88-840DF62462C4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Advanced Features Implemented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F8EA78-29A6-2FB4-0607-B28225FCB980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15728-070C-8F98-1235-C069E47EC0DC}"/>
              </a:ext>
            </a:extLst>
          </p:cNvPr>
          <p:cNvSpPr txBox="1"/>
          <p:nvPr/>
        </p:nvSpPr>
        <p:spPr>
          <a:xfrm>
            <a:off x="685800" y="1841500"/>
            <a:ext cx="5969000" cy="31700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AI Content Plan: generates caption, hashtags, alt text, hook, best posting time and safety note.</a:t>
            </a:r>
          </a:p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AI Suggestion Matrix: scores title strength, caption clarity, discovery tags, audience context, media readiness and safety.</a:t>
            </a:r>
          </a:p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Blob-backed media upload: streams files to Azure Blob Storage and saves metadata to MySQL.</a:t>
            </a:r>
          </a:p>
          <a:p>
            <a:pPr>
              <a:spcAft>
                <a:spcPts val="800"/>
              </a:spcAft>
            </a:pPr>
            <a:r>
              <a:rPr lang="en-GB" sz="1800">
                <a:solidFill>
                  <a:srgbClr val="101828"/>
                </a:solidFill>
                <a:latin typeface="Aptos" panose="020B0004020202020204" pitchFamily="34" charset="0"/>
              </a:rPr>
              <a:t>• Creator analytics and interaction model: comments, ratings and sentiment-style categorisation support engagement analysis.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DE816C-E0E5-121E-BEF3-67EDAC3DD120}"/>
              </a:ext>
            </a:extLst>
          </p:cNvPr>
          <p:cNvSpPr/>
          <p:nvPr/>
        </p:nvSpPr>
        <p:spPr>
          <a:xfrm>
            <a:off x="7112000" y="2032000"/>
            <a:ext cx="3937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55A046-24C1-27F6-6317-B35E5DC7C844}"/>
              </a:ext>
            </a:extLst>
          </p:cNvPr>
          <p:cNvSpPr/>
          <p:nvPr/>
        </p:nvSpPr>
        <p:spPr>
          <a:xfrm>
            <a:off x="7112000" y="2032000"/>
            <a:ext cx="88900" cy="2667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AA924-3378-5AA7-56A4-0590988D46E2}"/>
              </a:ext>
            </a:extLst>
          </p:cNvPr>
          <p:cNvSpPr txBox="1"/>
          <p:nvPr/>
        </p:nvSpPr>
        <p:spPr>
          <a:xfrm>
            <a:off x="7340600" y="2209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Assessment 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721EA-B6CD-1E86-3E64-106E6E6EBC50}"/>
              </a:ext>
            </a:extLst>
          </p:cNvPr>
          <p:cNvSpPr txBox="1"/>
          <p:nvPr/>
        </p:nvSpPr>
        <p:spPr>
          <a:xfrm>
            <a:off x="7340600" y="2641600"/>
            <a:ext cx="3556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The brief lists cognitive services, sentiment analysis, media analysis, identity framework and CI/CD as suitable advanced features. This project implements several of these patterns.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16582-27E6-4049-08BB-6D6CE31A54F4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8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894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58654-70FE-24E8-60D0-52D8B32684BD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 b="1">
                <a:solidFill>
                  <a:srgbClr val="2563EB"/>
                </a:solidFill>
                <a:latin typeface="Aptos" panose="020B0004020202020204" pitchFamily="34" charset="0"/>
              </a:rPr>
              <a:t>Slides 7-8: Advanced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DB323-95C1-30B8-971F-854DF0DE876E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AI Suggestion Matrix: Example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14D3A-FDE2-35CE-E797-140E55CE3D11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A0A52-008E-9C8A-0C6F-EB884508D1A5}"/>
              </a:ext>
            </a:extLst>
          </p:cNvPr>
          <p:cNvSpPr/>
          <p:nvPr/>
        </p:nvSpPr>
        <p:spPr>
          <a:xfrm>
            <a:off x="685800" y="18415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FCA52-7E28-FE36-2C04-EF6B50FED646}"/>
              </a:ext>
            </a:extLst>
          </p:cNvPr>
          <p:cNvSpPr/>
          <p:nvPr/>
        </p:nvSpPr>
        <p:spPr>
          <a:xfrm>
            <a:off x="685800" y="1841500"/>
            <a:ext cx="88900" cy="13335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373A3-E2B7-AE25-E8EB-CE88646345B4}"/>
              </a:ext>
            </a:extLst>
          </p:cNvPr>
          <p:cNvSpPr txBox="1"/>
          <p:nvPr/>
        </p:nvSpPr>
        <p:spPr>
          <a:xfrm>
            <a:off x="914400" y="20193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Overall 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B5E00-D57C-72D1-F45F-6C038F9C3098}"/>
              </a:ext>
            </a:extLst>
          </p:cNvPr>
          <p:cNvSpPr txBox="1"/>
          <p:nvPr/>
        </p:nvSpPr>
        <p:spPr>
          <a:xfrm>
            <a:off x="914400" y="2451100"/>
            <a:ext cx="2794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Example: 82/100 - Good, improve weak rows first.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12B92E-622C-6551-96A3-0287E02E8BBC}"/>
              </a:ext>
            </a:extLst>
          </p:cNvPr>
          <p:cNvSpPr/>
          <p:nvPr/>
        </p:nvSpPr>
        <p:spPr>
          <a:xfrm>
            <a:off x="4495800" y="18415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7FA170-4ED0-71D7-D316-80ED8A83E364}"/>
              </a:ext>
            </a:extLst>
          </p:cNvPr>
          <p:cNvSpPr/>
          <p:nvPr/>
        </p:nvSpPr>
        <p:spPr>
          <a:xfrm>
            <a:off x="4495800" y="1841500"/>
            <a:ext cx="88900" cy="133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A902E-550E-A3A5-C5E0-57A8ECC3A8A5}"/>
              </a:ext>
            </a:extLst>
          </p:cNvPr>
          <p:cNvSpPr txBox="1"/>
          <p:nvPr/>
        </p:nvSpPr>
        <p:spPr>
          <a:xfrm>
            <a:off x="4724400" y="20193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Title strength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E227F8-7523-4FC7-A41E-975328BF6F54}"/>
              </a:ext>
            </a:extLst>
          </p:cNvPr>
          <p:cNvSpPr txBox="1"/>
          <p:nvPr/>
        </p:nvSpPr>
        <p:spPr>
          <a:xfrm>
            <a:off x="4724400" y="2451100"/>
            <a:ext cx="2794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Scores whether the title has enough context and recognisable wording.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3FFC9C-68AA-BB63-16DE-013938FDEC30}"/>
              </a:ext>
            </a:extLst>
          </p:cNvPr>
          <p:cNvSpPr/>
          <p:nvPr/>
        </p:nvSpPr>
        <p:spPr>
          <a:xfrm>
            <a:off x="8305800" y="18415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BA3BE9-E73D-7106-F499-5DD6EAA0B436}"/>
              </a:ext>
            </a:extLst>
          </p:cNvPr>
          <p:cNvSpPr/>
          <p:nvPr/>
        </p:nvSpPr>
        <p:spPr>
          <a:xfrm>
            <a:off x="8305800" y="1841500"/>
            <a:ext cx="88900" cy="13335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B2602-1C12-45D1-398B-0647210E735C}"/>
              </a:ext>
            </a:extLst>
          </p:cNvPr>
          <p:cNvSpPr txBox="1"/>
          <p:nvPr/>
        </p:nvSpPr>
        <p:spPr>
          <a:xfrm>
            <a:off x="8534400" y="20193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Caption clarity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465E1-667C-9682-BED9-D4FEB8EE543B}"/>
              </a:ext>
            </a:extLst>
          </p:cNvPr>
          <p:cNvSpPr txBox="1"/>
          <p:nvPr/>
        </p:nvSpPr>
        <p:spPr>
          <a:xfrm>
            <a:off x="8534400" y="2451100"/>
            <a:ext cx="2794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Checks caption length, engagement question and call-to-action wording.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4D1EAF-8C74-81A5-335C-7AEB6188033B}"/>
              </a:ext>
            </a:extLst>
          </p:cNvPr>
          <p:cNvSpPr/>
          <p:nvPr/>
        </p:nvSpPr>
        <p:spPr>
          <a:xfrm>
            <a:off x="685800" y="38100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C7CE5-15EF-3EA2-22AF-C718725D52DA}"/>
              </a:ext>
            </a:extLst>
          </p:cNvPr>
          <p:cNvSpPr/>
          <p:nvPr/>
        </p:nvSpPr>
        <p:spPr>
          <a:xfrm>
            <a:off x="685800" y="3810000"/>
            <a:ext cx="88900" cy="13335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026059-C5DF-9072-9368-6D1BD631F904}"/>
              </a:ext>
            </a:extLst>
          </p:cNvPr>
          <p:cNvSpPr txBox="1"/>
          <p:nvPr/>
        </p:nvSpPr>
        <p:spPr>
          <a:xfrm>
            <a:off x="914400" y="39878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Discovery tags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236CDB-2177-9021-70FD-6010E050B4E3}"/>
              </a:ext>
            </a:extLst>
          </p:cNvPr>
          <p:cNvSpPr txBox="1"/>
          <p:nvPr/>
        </p:nvSpPr>
        <p:spPr>
          <a:xfrm>
            <a:off x="914400" y="4419600"/>
            <a:ext cx="2794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Checks hashtag count and relevance to media type, mood and location.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DFD664-1F62-ACBC-CE05-8F4E2C0D6C8C}"/>
              </a:ext>
            </a:extLst>
          </p:cNvPr>
          <p:cNvSpPr/>
          <p:nvPr/>
        </p:nvSpPr>
        <p:spPr>
          <a:xfrm>
            <a:off x="4495800" y="38100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653E83-A3AE-CC5D-CDE8-7C871D6B1F80}"/>
              </a:ext>
            </a:extLst>
          </p:cNvPr>
          <p:cNvSpPr/>
          <p:nvPr/>
        </p:nvSpPr>
        <p:spPr>
          <a:xfrm>
            <a:off x="4495800" y="3810000"/>
            <a:ext cx="88900" cy="1333500"/>
          </a:xfrm>
          <a:prstGeom prst="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433476-27F2-BE11-6D1C-8DB52B24E54D}"/>
              </a:ext>
            </a:extLst>
          </p:cNvPr>
          <p:cNvSpPr txBox="1"/>
          <p:nvPr/>
        </p:nvSpPr>
        <p:spPr>
          <a:xfrm>
            <a:off x="4724400" y="39878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Audience context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733AF7-51A6-C252-9260-08BB0F488989}"/>
              </a:ext>
            </a:extLst>
          </p:cNvPr>
          <p:cNvSpPr txBox="1"/>
          <p:nvPr/>
        </p:nvSpPr>
        <p:spPr>
          <a:xfrm>
            <a:off x="4724400" y="4419600"/>
            <a:ext cx="2794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Rewards location and people/community metadata for search and recommendation value.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E8D6C5B-E9C5-5F5B-C139-CC553C932364}"/>
              </a:ext>
            </a:extLst>
          </p:cNvPr>
          <p:cNvSpPr/>
          <p:nvPr/>
        </p:nvSpPr>
        <p:spPr>
          <a:xfrm>
            <a:off x="8305800" y="38100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840268-8789-651D-9F1A-4C4B8EA23676}"/>
              </a:ext>
            </a:extLst>
          </p:cNvPr>
          <p:cNvSpPr/>
          <p:nvPr/>
        </p:nvSpPr>
        <p:spPr>
          <a:xfrm>
            <a:off x="8305800" y="3810000"/>
            <a:ext cx="88900" cy="13335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35963-F88E-934D-7BB8-9B94A5C2D531}"/>
              </a:ext>
            </a:extLst>
          </p:cNvPr>
          <p:cNvSpPr txBox="1"/>
          <p:nvPr/>
        </p:nvSpPr>
        <p:spPr>
          <a:xfrm>
            <a:off x="8534400" y="3987800"/>
            <a:ext cx="279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Safety review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6ACA06-7635-C3B1-FACA-ED151A7E5C79}"/>
              </a:ext>
            </a:extLst>
          </p:cNvPr>
          <p:cNvSpPr txBox="1"/>
          <p:nvPr/>
        </p:nvSpPr>
        <p:spPr>
          <a:xfrm>
            <a:off x="8534400" y="4419600"/>
            <a:ext cx="2794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Flags sensitive private data, children/schools/hospitals and copyright/music risk indicators.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34CCEA-11A2-5A65-CD95-C58540FCDF2A}"/>
              </a:ext>
            </a:extLst>
          </p:cNvPr>
          <p:cNvSpPr txBox="1"/>
          <p:nvPr/>
        </p:nvSpPr>
        <p:spPr>
          <a:xfrm>
            <a:off x="787400" y="5816600"/>
            <a:ext cx="10604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 b="1">
                <a:solidFill>
                  <a:srgbClr val="101828"/>
                </a:solidFill>
                <a:latin typeface="Aptos" panose="020B0004020202020204" pitchFamily="34" charset="0"/>
              </a:rPr>
              <a:t>This feature provides practical decision support to creators before publishing media.</a:t>
            </a:r>
            <a:endParaRPr lang="en-GB" sz="1800" b="1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AF3AF2-743B-21A1-EB15-404047DC77F7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9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481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4B532-7FA2-A4AC-B8F2-9A8C8BA4952D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Aptos" panose="020B0004020202020204" pitchFamily="34" charset="0"/>
              </a:rPr>
              <a:t>Slides 9-10: Limitations and scalability evaluation</a:t>
            </a:r>
            <a:endParaRPr lang="en-GB" sz="12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F2175-DAAC-40B0-5C43-2FE66521BF4C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Assessment of Scalability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CB669-EC08-34DE-91B7-4C97371D5000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88A834-B10A-EDAA-B16B-D3D58D7A5414}"/>
              </a:ext>
            </a:extLst>
          </p:cNvPr>
          <p:cNvSpPr/>
          <p:nvPr/>
        </p:nvSpPr>
        <p:spPr>
          <a:xfrm>
            <a:off x="685800" y="1841500"/>
            <a:ext cx="48895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E0835-4010-15FD-98E6-7780FE9A61F8}"/>
              </a:ext>
            </a:extLst>
          </p:cNvPr>
          <p:cNvSpPr/>
          <p:nvPr/>
        </p:nvSpPr>
        <p:spPr>
          <a:xfrm>
            <a:off x="685800" y="1841500"/>
            <a:ext cx="88900" cy="19685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B62B7-0C75-7F75-C575-411FA1514098}"/>
              </a:ext>
            </a:extLst>
          </p:cNvPr>
          <p:cNvSpPr txBox="1"/>
          <p:nvPr/>
        </p:nvSpPr>
        <p:spPr>
          <a:xfrm>
            <a:off x="914400" y="20193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Scalable elements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6A3106-4015-7355-FBA8-50A4FF5D8E35}"/>
              </a:ext>
            </a:extLst>
          </p:cNvPr>
          <p:cNvSpPr txBox="1"/>
          <p:nvPr/>
        </p:nvSpPr>
        <p:spPr>
          <a:xfrm>
            <a:off x="914400" y="2451100"/>
            <a:ext cx="4508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Static hosting, REST API, Docker image, ACR, Blob Storage, managed MySQL, private DNS/VNet and CI/CD are scalable building blocks.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85D090-39F1-9AA8-888B-1D3C1D29E9CA}"/>
              </a:ext>
            </a:extLst>
          </p:cNvPr>
          <p:cNvSpPr/>
          <p:nvPr/>
        </p:nvSpPr>
        <p:spPr>
          <a:xfrm>
            <a:off x="6350000" y="1841500"/>
            <a:ext cx="48895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825BF-F9A5-658E-60C1-236A7FFFBFB5}"/>
              </a:ext>
            </a:extLst>
          </p:cNvPr>
          <p:cNvSpPr/>
          <p:nvPr/>
        </p:nvSpPr>
        <p:spPr>
          <a:xfrm>
            <a:off x="6350000" y="1841500"/>
            <a:ext cx="88900" cy="1968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E3E0E-0255-BC35-A561-E6DD0969B190}"/>
              </a:ext>
            </a:extLst>
          </p:cNvPr>
          <p:cNvSpPr txBox="1"/>
          <p:nvPr/>
        </p:nvSpPr>
        <p:spPr>
          <a:xfrm>
            <a:off x="6578600" y="20193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Current cost-aware choice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D98AA-98E0-343A-AC6D-DD5B5B9C7193}"/>
              </a:ext>
            </a:extLst>
          </p:cNvPr>
          <p:cNvSpPr txBox="1"/>
          <p:nvPr/>
        </p:nvSpPr>
        <p:spPr>
          <a:xfrm>
            <a:off x="6578600" y="2451100"/>
            <a:ext cx="4508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The live deployment uses one backend container on B1 to control cost. This is acceptable for demonstration and low traffic.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C5A151-394A-5436-40BB-06C822CA70A2}"/>
              </a:ext>
            </a:extLst>
          </p:cNvPr>
          <p:cNvSpPr/>
          <p:nvPr/>
        </p:nvSpPr>
        <p:spPr>
          <a:xfrm>
            <a:off x="685800" y="4254500"/>
            <a:ext cx="48895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936D1F-F76B-C7A5-BDE7-39A8B015906B}"/>
              </a:ext>
            </a:extLst>
          </p:cNvPr>
          <p:cNvSpPr/>
          <p:nvPr/>
        </p:nvSpPr>
        <p:spPr>
          <a:xfrm>
            <a:off x="685800" y="4254500"/>
            <a:ext cx="88900" cy="15240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34A778-B17A-0334-D1F0-E56445F670A7}"/>
              </a:ext>
            </a:extLst>
          </p:cNvPr>
          <p:cNvSpPr txBox="1"/>
          <p:nvPr/>
        </p:nvSpPr>
        <p:spPr>
          <a:xfrm>
            <a:off x="914400" y="44323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Performance 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4A6C6E-1809-3A5B-E00E-07E1121A1CA1}"/>
              </a:ext>
            </a:extLst>
          </p:cNvPr>
          <p:cNvSpPr txBox="1"/>
          <p:nvPr/>
        </p:nvSpPr>
        <p:spPr>
          <a:xfrm>
            <a:off x="914400" y="4864100"/>
            <a:ext cx="45085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Large videos are served from Blob rather than the app container, reducing backend CPU/memory pressure.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1234C0-B7C5-9924-F697-B0D411803A42}"/>
              </a:ext>
            </a:extLst>
          </p:cNvPr>
          <p:cNvSpPr/>
          <p:nvPr/>
        </p:nvSpPr>
        <p:spPr>
          <a:xfrm>
            <a:off x="6350000" y="4254500"/>
            <a:ext cx="48895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785CFC-CA70-01D3-9C56-FCBB03A6B2A4}"/>
              </a:ext>
            </a:extLst>
          </p:cNvPr>
          <p:cNvSpPr/>
          <p:nvPr/>
        </p:nvSpPr>
        <p:spPr>
          <a:xfrm>
            <a:off x="6350000" y="4254500"/>
            <a:ext cx="88900" cy="15240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7AA192-750E-182E-CCE8-0E94AE87A3B0}"/>
              </a:ext>
            </a:extLst>
          </p:cNvPr>
          <p:cNvSpPr txBox="1"/>
          <p:nvPr/>
        </p:nvSpPr>
        <p:spPr>
          <a:xfrm>
            <a:off x="6578600" y="44323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Operational scale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7806A-F225-A389-8B4B-F1C873AD8B11}"/>
              </a:ext>
            </a:extLst>
          </p:cNvPr>
          <p:cNvSpPr txBox="1"/>
          <p:nvPr/>
        </p:nvSpPr>
        <p:spPr>
          <a:xfrm>
            <a:off x="6578600" y="4864100"/>
            <a:ext cx="4508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The Docker image and pipeline mean the app can be moved to Azure Container Apps or Kubernetes without rewriting business logic.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FB41AF-DE85-E8FA-E486-D7ADED6DA787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10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134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28A62A-2427-BD3A-576B-4192728BEBE8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Aptos" panose="020B0004020202020204" pitchFamily="34" charset="0"/>
              </a:rPr>
              <a:t>Slides 9-10: Limitations and scalability evaluation</a:t>
            </a:r>
            <a:endParaRPr lang="en-GB" sz="12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8CEE8-B95B-C7BB-9547-7261124A196A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Limitations and Improvement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989248-9953-3158-3090-AA50DD4D48ED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D93EF6-827B-6C0C-A534-F08A760BB60B}"/>
              </a:ext>
            </a:extLst>
          </p:cNvPr>
          <p:cNvSpPr/>
          <p:nvPr/>
        </p:nvSpPr>
        <p:spPr>
          <a:xfrm>
            <a:off x="685800" y="18415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38E5E-C355-BAB0-FA8F-B0553FE0DA76}"/>
              </a:ext>
            </a:extLst>
          </p:cNvPr>
          <p:cNvSpPr/>
          <p:nvPr/>
        </p:nvSpPr>
        <p:spPr>
          <a:xfrm>
            <a:off x="685800" y="1841500"/>
            <a:ext cx="88900" cy="1714500"/>
          </a:xfrm>
          <a:prstGeom prst="rect">
            <a:avLst/>
          </a:prstGeom>
          <a:solidFill>
            <a:srgbClr val="B423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852A1-B951-290C-22C1-C1D4795DFE40}"/>
              </a:ext>
            </a:extLst>
          </p:cNvPr>
          <p:cNvSpPr txBox="1"/>
          <p:nvPr/>
        </p:nvSpPr>
        <p:spPr>
          <a:xfrm>
            <a:off x="914400" y="20193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Limitation: B1 single instance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498D4-E86B-7F84-A354-18092BD94D44}"/>
              </a:ext>
            </a:extLst>
          </p:cNvPr>
          <p:cNvSpPr txBox="1"/>
          <p:nvPr/>
        </p:nvSpPr>
        <p:spPr>
          <a:xfrm>
            <a:off x="914400" y="2451100"/>
            <a:ext cx="2921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 single B1 App Service instance is cost-effective but not true autoscaling. It can be slow during warm-up.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EF8508-F667-483F-7BA8-21C63C72FF1D}"/>
              </a:ext>
            </a:extLst>
          </p:cNvPr>
          <p:cNvSpPr/>
          <p:nvPr/>
        </p:nvSpPr>
        <p:spPr>
          <a:xfrm>
            <a:off x="4419600" y="18415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50C1BC-0CA2-E039-E664-CBCCA09C8F9B}"/>
              </a:ext>
            </a:extLst>
          </p:cNvPr>
          <p:cNvSpPr/>
          <p:nvPr/>
        </p:nvSpPr>
        <p:spPr>
          <a:xfrm>
            <a:off x="4419600" y="1841500"/>
            <a:ext cx="88900" cy="17145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EBFF3-7947-E254-DF6A-0B8C4E73CD05}"/>
              </a:ext>
            </a:extLst>
          </p:cNvPr>
          <p:cNvSpPr txBox="1"/>
          <p:nvPr/>
        </p:nvSpPr>
        <p:spPr>
          <a:xfrm>
            <a:off x="4648200" y="20193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Improvement: autoscaling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0B489-16B0-E97A-F70B-C8DD4D3C1F8B}"/>
              </a:ext>
            </a:extLst>
          </p:cNvPr>
          <p:cNvSpPr txBox="1"/>
          <p:nvPr/>
        </p:nvSpPr>
        <p:spPr>
          <a:xfrm>
            <a:off x="4648200" y="2451100"/>
            <a:ext cx="2921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Move the same Docker image to Azure Container Apps with min/max replicas and scale rules.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0D5F8A-991D-85A5-F1E3-F26EC7F0A727}"/>
              </a:ext>
            </a:extLst>
          </p:cNvPr>
          <p:cNvSpPr/>
          <p:nvPr/>
        </p:nvSpPr>
        <p:spPr>
          <a:xfrm>
            <a:off x="8153400" y="18415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E4FE10-BE35-0AD7-0323-7FC51F9AFD2D}"/>
              </a:ext>
            </a:extLst>
          </p:cNvPr>
          <p:cNvSpPr/>
          <p:nvPr/>
        </p:nvSpPr>
        <p:spPr>
          <a:xfrm>
            <a:off x="8153400" y="1841500"/>
            <a:ext cx="88900" cy="17145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2AE1C7-CAA1-0218-DEDF-DE27EBEDFF8D}"/>
              </a:ext>
            </a:extLst>
          </p:cNvPr>
          <p:cNvSpPr txBox="1"/>
          <p:nvPr/>
        </p:nvSpPr>
        <p:spPr>
          <a:xfrm>
            <a:off x="8382000" y="20193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Limitation: AI is rule-based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30CBF-ACD2-6868-8C89-5EF0B528B2AC}"/>
              </a:ext>
            </a:extLst>
          </p:cNvPr>
          <p:cNvSpPr txBox="1"/>
          <p:nvPr/>
        </p:nvSpPr>
        <p:spPr>
          <a:xfrm>
            <a:off x="8382000" y="2451100"/>
            <a:ext cx="2921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The current AI feature is deterministic and low-cost. It does not call a paid LLM or vision model yet.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370D08-B0BF-BBB0-1350-A07E28C057DC}"/>
              </a:ext>
            </a:extLst>
          </p:cNvPr>
          <p:cNvSpPr/>
          <p:nvPr/>
        </p:nvSpPr>
        <p:spPr>
          <a:xfrm>
            <a:off x="685800" y="40640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159FB-DA8D-D998-30BE-EBB612D68A44}"/>
              </a:ext>
            </a:extLst>
          </p:cNvPr>
          <p:cNvSpPr/>
          <p:nvPr/>
        </p:nvSpPr>
        <p:spPr>
          <a:xfrm>
            <a:off x="685800" y="4064000"/>
            <a:ext cx="88900" cy="1714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EEA98F-B2D8-A8A5-3E69-F4A01E5AF70B}"/>
              </a:ext>
            </a:extLst>
          </p:cNvPr>
          <p:cNvSpPr txBox="1"/>
          <p:nvPr/>
        </p:nvSpPr>
        <p:spPr>
          <a:xfrm>
            <a:off x="914400" y="42418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Improvement: Azure OpenAI/Vision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081C58-2156-F50C-8680-7AC9632C5BC9}"/>
              </a:ext>
            </a:extLst>
          </p:cNvPr>
          <p:cNvSpPr txBox="1"/>
          <p:nvPr/>
        </p:nvSpPr>
        <p:spPr>
          <a:xfrm>
            <a:off x="914400" y="4673600"/>
            <a:ext cx="2921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Add optional Azure OpenAI or Azure AI Vision for richer captions, moderation and image/video analysis.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9F3257-1AE4-AA9A-12BC-48AF72F4071B}"/>
              </a:ext>
            </a:extLst>
          </p:cNvPr>
          <p:cNvSpPr/>
          <p:nvPr/>
        </p:nvSpPr>
        <p:spPr>
          <a:xfrm>
            <a:off x="4419600" y="40640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AFD0AB-FBB0-AF64-29DD-0191DA60EBF6}"/>
              </a:ext>
            </a:extLst>
          </p:cNvPr>
          <p:cNvSpPr/>
          <p:nvPr/>
        </p:nvSpPr>
        <p:spPr>
          <a:xfrm>
            <a:off x="4419600" y="4064000"/>
            <a:ext cx="88900" cy="17145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2AB570-15BF-D208-8346-DD7A935891B1}"/>
              </a:ext>
            </a:extLst>
          </p:cNvPr>
          <p:cNvSpPr txBox="1"/>
          <p:nvPr/>
        </p:nvSpPr>
        <p:spPr>
          <a:xfrm>
            <a:off x="4648200" y="42418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Limitation: custom domain/CDN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42942C-9349-AACF-F3AB-9E310B5171AE}"/>
              </a:ext>
            </a:extLst>
          </p:cNvPr>
          <p:cNvSpPr txBox="1"/>
          <p:nvPr/>
        </p:nvSpPr>
        <p:spPr>
          <a:xfrm>
            <a:off x="4648200" y="4673600"/>
            <a:ext cx="2921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1300">
                <a:solidFill>
                  <a:srgbClr val="667085"/>
                </a:solidFill>
                <a:latin typeface="Aptos" panose="020B0004020202020204" pitchFamily="34" charset="0"/>
              </a:rPr>
              <a:t>Current domain uses Azure default endpoints.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7EC58F8-7332-BE3B-BEFA-2714F6620082}"/>
              </a:ext>
            </a:extLst>
          </p:cNvPr>
          <p:cNvSpPr/>
          <p:nvPr/>
        </p:nvSpPr>
        <p:spPr>
          <a:xfrm>
            <a:off x="8153400" y="4064000"/>
            <a:ext cx="33020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0BACAB-12DE-7482-7C5B-EAF659862ED7}"/>
              </a:ext>
            </a:extLst>
          </p:cNvPr>
          <p:cNvSpPr/>
          <p:nvPr/>
        </p:nvSpPr>
        <p:spPr>
          <a:xfrm>
            <a:off x="8153400" y="4064000"/>
            <a:ext cx="88900" cy="1714500"/>
          </a:xfrm>
          <a:prstGeom prst="rect">
            <a:avLst/>
          </a:prstGeom>
          <a:solidFill>
            <a:srgbClr val="027A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AE832D-74F7-AA42-E211-270E76EB93A2}"/>
              </a:ext>
            </a:extLst>
          </p:cNvPr>
          <p:cNvSpPr txBox="1"/>
          <p:nvPr/>
        </p:nvSpPr>
        <p:spPr>
          <a:xfrm>
            <a:off x="8382000" y="4241800"/>
            <a:ext cx="2921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800" b="1">
                <a:solidFill>
                  <a:srgbClr val="101828"/>
                </a:solidFill>
                <a:latin typeface="Aptos" panose="020B0004020202020204" pitchFamily="34" charset="0"/>
              </a:rPr>
              <a:t>Improvement: Front Door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0B5E0F-DF73-628C-3C68-2E56C335AE0B}"/>
              </a:ext>
            </a:extLst>
          </p:cNvPr>
          <p:cNvSpPr txBox="1"/>
          <p:nvPr/>
        </p:nvSpPr>
        <p:spPr>
          <a:xfrm>
            <a:off x="8382000" y="4673600"/>
            <a:ext cx="2921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667085"/>
                </a:solidFill>
                <a:latin typeface="Aptos" panose="020B0004020202020204" pitchFamily="34" charset="0"/>
              </a:rPr>
              <a:t>Use Azure Front Door or CDN with a custom domain and route /api to backend and / to frontend.</a:t>
            </a:r>
            <a:endParaRPr lang="en-GB" sz="13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2D658-F8C6-A7D7-057D-6B5B162B1953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11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741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C8999E-2C26-7985-DFCC-C47C292EBE84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Aptos" panose="020B0004020202020204" pitchFamily="34" charset="0"/>
              </a:rPr>
              <a:t>Slide 11: Functionality of recorded demonstration</a:t>
            </a:r>
            <a:endParaRPr lang="en-GB" sz="12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21A29-4FDF-FEB3-909E-C600BDD0ACAA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5-Minute Demonstration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9CF6B-6802-BB08-8C6E-DCE41CD9F28C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1EE00-5FB7-45BD-8DC2-778F953E44D8}"/>
              </a:ext>
            </a:extLst>
          </p:cNvPr>
          <p:cNvSpPr txBox="1"/>
          <p:nvPr/>
        </p:nvSpPr>
        <p:spPr>
          <a:xfrm>
            <a:off x="685800" y="1841500"/>
            <a:ext cx="6604000" cy="39292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0:00-0:30 Open the live Azure frontend and backend health endpoint.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0:30-1:15 Show creator login/register and role-based upload screen.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1:15-2:15 Upload an image/video, save file to Blob and publish post metadata to MySQL.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2:15-3:00 Use AI Content Plan and AI Suggestion Matrix before publishing.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3:00-4:00 Show consumer feed/search, post detail, comment and rating interaction.</a:t>
            </a:r>
          </a:p>
          <a:p>
            <a:pPr>
              <a:spcAft>
                <a:spcPts val="800"/>
              </a:spcAft>
            </a:pPr>
            <a:r>
              <a:rPr lang="en-US" sz="1800">
                <a:solidFill>
                  <a:srgbClr val="101828"/>
                </a:solidFill>
                <a:latin typeface="Aptos" panose="020B0004020202020204" pitchFamily="34" charset="0"/>
              </a:rPr>
              <a:t>• 4:00-5:00 Show GitHub Actions run, ACR image, Azure Web App, Blob container and MySQL database.</a:t>
            </a:r>
            <a:endParaRPr lang="en-GB" sz="1800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E8420A-A9EF-BC5B-B606-65766ABED7FA}"/>
              </a:ext>
            </a:extLst>
          </p:cNvPr>
          <p:cNvSpPr/>
          <p:nvPr/>
        </p:nvSpPr>
        <p:spPr>
          <a:xfrm>
            <a:off x="7874000" y="2032000"/>
            <a:ext cx="3302000" cy="2413000"/>
          </a:xfrm>
          <a:prstGeom prst="roundRect">
            <a:avLst/>
          </a:prstGeom>
          <a:solidFill>
            <a:srgbClr val="101828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05CC9-189F-94A3-0535-36A374A45B70}"/>
              </a:ext>
            </a:extLst>
          </p:cNvPr>
          <p:cNvSpPr txBox="1"/>
          <p:nvPr/>
        </p:nvSpPr>
        <p:spPr>
          <a:xfrm>
            <a:off x="8255000" y="2921000"/>
            <a:ext cx="254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  <a:t>Embed 5-minute video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08D705-4304-74C6-F8F8-7B5434D0FE52}"/>
              </a:ext>
            </a:extLst>
          </p:cNvPr>
          <p:cNvSpPr txBox="1"/>
          <p:nvPr/>
        </p:nvSpPr>
        <p:spPr>
          <a:xfrm>
            <a:off x="7874000" y="4762500"/>
            <a:ext cx="3429000" cy="5245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7085"/>
                </a:solidFill>
                <a:latin typeface="Aptos" panose="020B0004020202020204" pitchFamily="34" charset="0"/>
              </a:rPr>
              <a:t>Recording should show backend activity and Azure deployment resources.</a:t>
            </a:r>
            <a:endParaRPr lang="en-GB" sz="14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2A659-C863-AA93-DCD9-FE67C60AD1EA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12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487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19AC1-C103-554E-EECD-3FFE0ABB84A6}"/>
              </a:ext>
            </a:extLst>
          </p:cNvPr>
          <p:cNvSpPr txBox="1"/>
          <p:nvPr/>
        </p:nvSpPr>
        <p:spPr>
          <a:xfrm>
            <a:off x="533400" y="304800"/>
            <a:ext cx="1092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Aptos" panose="020B0004020202020204" pitchFamily="34" charset="0"/>
              </a:rPr>
              <a:t>Slides 12-13: Conclusion and references</a:t>
            </a:r>
            <a:endParaRPr lang="en-GB" sz="12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16FC1-604F-0B3A-7A28-53B27C9B1690}"/>
              </a:ext>
            </a:extLst>
          </p:cNvPr>
          <p:cNvSpPr txBox="1"/>
          <p:nvPr/>
        </p:nvSpPr>
        <p:spPr>
          <a:xfrm>
            <a:off x="533400" y="6604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000" b="1">
                <a:solidFill>
                  <a:srgbClr val="101828"/>
                </a:solidFill>
                <a:latin typeface="Aptos" panose="020B0004020202020204" pitchFamily="34" charset="0"/>
              </a:rPr>
              <a:t>Conclusion and 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A29F4-6A3A-97E1-FD5C-5968443919D9}"/>
              </a:ext>
            </a:extLst>
          </p:cNvPr>
          <p:cNvSpPr/>
          <p:nvPr/>
        </p:nvSpPr>
        <p:spPr>
          <a:xfrm>
            <a:off x="533400" y="1422400"/>
            <a:ext cx="111252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9243C-9AFC-2AA9-5360-5E9C90F11152}"/>
              </a:ext>
            </a:extLst>
          </p:cNvPr>
          <p:cNvSpPr txBox="1"/>
          <p:nvPr/>
        </p:nvSpPr>
        <p:spPr>
          <a:xfrm>
            <a:off x="685800" y="1841500"/>
            <a:ext cx="10160000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700">
                <a:solidFill>
                  <a:srgbClr val="101828"/>
                </a:solidFill>
                <a:latin typeface="Aptos" panose="020B0004020202020204" pitchFamily="34" charset="0"/>
              </a:rPr>
              <a:t>• The project delivers a cloud-native media distribution web app matching the COM769 mini-project brief.</a:t>
            </a:r>
          </a:p>
          <a:p>
            <a:pPr>
              <a:spcAft>
                <a:spcPts val="800"/>
              </a:spcAft>
            </a:pPr>
            <a:r>
              <a:rPr lang="en-GB" sz="1700">
                <a:solidFill>
                  <a:srgbClr val="101828"/>
                </a:solidFill>
                <a:latin typeface="Aptos" panose="020B0004020202020204" pitchFamily="34" charset="0"/>
              </a:rPr>
              <a:t>• It demonstrates frontend/backend separation, REST APIs, role-based workflows, Docker packaging, CI/CD, object storage and managed persistence.</a:t>
            </a:r>
          </a:p>
          <a:p>
            <a:pPr>
              <a:spcAft>
                <a:spcPts val="800"/>
              </a:spcAft>
            </a:pPr>
            <a:r>
              <a:rPr lang="en-GB" sz="1700">
                <a:solidFill>
                  <a:srgbClr val="101828"/>
                </a:solidFill>
                <a:latin typeface="Aptos" panose="020B0004020202020204" pitchFamily="34" charset="0"/>
              </a:rPr>
              <a:t>• The design is intentionally cost-aware while keeping a clear roadmap to autoscaling and richer AI integration.</a:t>
            </a:r>
          </a:p>
          <a:p>
            <a:pPr>
              <a:spcAft>
                <a:spcPts val="800"/>
              </a:spcAft>
            </a:pPr>
            <a:r>
              <a:rPr lang="en-GB" sz="1700">
                <a:solidFill>
                  <a:srgbClr val="101828"/>
                </a:solidFill>
                <a:latin typeface="Aptos" panose="020B0004020202020204" pitchFamily="34" charset="0"/>
              </a:rPr>
              <a:t>• References: COM769 Coursework Description and Assessment Criteria; Microsoft Azure documentation for App Service, Blob Storage, MySQL Flexible Server and Azure Container Registry; GitHub Actions documentation; Spring Boot documentation.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5175C-B799-0B9D-C717-16AC105A2865}"/>
              </a:ext>
            </a:extLst>
          </p:cNvPr>
          <p:cNvSpPr txBox="1"/>
          <p:nvPr/>
        </p:nvSpPr>
        <p:spPr>
          <a:xfrm>
            <a:off x="685800" y="6032500"/>
            <a:ext cx="10414000" cy="5245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B42318"/>
                </a:solidFill>
                <a:latin typeface="Aptos" panose="020B0004020202020204" pitchFamily="34" charset="0"/>
              </a:rPr>
              <a:t>Academic integrity note: any AI contribution should be acknowledged in the final submission, as required by the coursework declaration.</a:t>
            </a:r>
            <a:endParaRPr lang="en-GB" sz="1400" b="1">
              <a:solidFill>
                <a:srgbClr val="B42318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63A1A-141F-9A9D-63A6-06A7A51FB061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67085"/>
                </a:solidFill>
                <a:latin typeface="Aptos" panose="020B0004020202020204" pitchFamily="34" charset="0"/>
              </a:rPr>
              <a:t>AI Media Platform | Slide 13</a:t>
            </a:r>
            <a:endParaRPr lang="en-GB" sz="900">
              <a:solidFill>
                <a:srgbClr val="66708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34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1766</Words>
  <Application>Microsoft Office PowerPoint</Application>
  <PresentationFormat>On-screen Show (16:10)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Imran</dc:creator>
  <cp:lastModifiedBy>MD Imran</cp:lastModifiedBy>
  <cp:revision>1</cp:revision>
  <dcterms:created xsi:type="dcterms:W3CDTF">2026-05-07T09:13:46Z</dcterms:created>
  <dcterms:modified xsi:type="dcterms:W3CDTF">2026-05-07T09:13:46Z</dcterms:modified>
</cp:coreProperties>
</file>
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F708E-0891-208B-CF05-C5DAD0F5D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52976-9E8C-EC57-BF0D-35BBC1B23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2A506-977F-42F6-AB7B-DDC874B5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95F8-0C99-0955-09E2-D539C1F1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5F964-A4B4-56C8-51ED-38901012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22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4203-A5DE-950A-C1F3-EF62AAEB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E587C-7DEE-F9AF-9EE6-BEB93175A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620C8-A997-0BFB-A16C-60E96DB5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D6A1-0D7F-D60E-BD34-75FD1F88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D1E2-511A-23CA-4561-0AA0A49C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71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37D5-99E4-1D3C-BE2E-1C09E2CB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215CB-780E-BA83-C6F9-3B9314C24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29832-BE23-D3D0-78EF-8E9BC8A4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E54CD-88CC-C434-E41D-B6221B62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8837E-C8A1-F7E9-4FAB-CDECC6D5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79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0B24-0A47-A82D-358E-F1C9C844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A954-4BBF-7AF7-F385-B03F768AF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917B7-8CB9-0404-7FB5-81E7B97F3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55F08-6FB0-EC14-1EB2-3ACB4C94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A7F1B-1FB3-BAED-50BF-8ADD92BE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8A14-97B4-A656-7487-6EE59FEAF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23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1045-7A20-F170-F49F-7B546C22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3ACA9-6850-AC88-7E58-8D1BE166E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CD434-8E47-E4A3-10EB-95C7FE51B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E943D-6AAF-6173-A26F-509E7EC0B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52BFC-8F44-E738-6877-10E5DA773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88061-AD38-8244-D184-8BBB7DB0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3AED6-1B6A-FDBD-A9B7-B50ED973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CE3ED-758B-9239-345B-58A75504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15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5B0DA-B0DE-BA9C-D5CB-2FAC8130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922B2-FB09-66D9-A2D4-50433E196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71127-CCEC-1DB7-1AA3-17DF9145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68749-F897-9B5E-B62A-9A6D31A1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26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1BC48C-FE5F-3B0A-BD17-F6F928F6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0431E-C73E-1005-7E72-60C4E518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0259-8F69-06F9-8E4A-5C1B276A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83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699E-75E8-685F-DF00-72EDF441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C9B6C-B6F3-CD19-F7A9-1471FE0B8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B05CE-EEC9-46B1-6C7C-F6A4858DA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8680B-4978-A68C-2425-A256EFEB3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A761A-7A8A-EA39-957E-1C32455A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2386A-A3D8-FDE3-8526-CA42C7C5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5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D705-B873-3D0A-2B25-ECA7DA86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A2FDE-EFFF-0FA6-2E46-F83D43FE7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10142-6691-C497-C39B-6765AA739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10F21-CC7E-9EC0-370A-8D6B6949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37838-14C1-16ED-59A1-CEEE2FAD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69662-C201-16BF-67E3-71EF2886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58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269F-E3F1-DB68-F7A8-C6CF41C4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2EBD9-7870-FA9C-09E6-160CA6DA6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2407B-B2D5-0CE0-C6D5-1F9BB1DF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DA649-463F-7E5C-5D40-5859D3D8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C261-C786-F351-3BEC-0540AF4F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46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FE87D-77C4-5529-7B6A-C1CE2ABAB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9FFB5-03BD-CC74-C2BD-D6186166D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87CAA-ABD1-273B-C748-951262AA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DAD5A-B333-70DD-36D3-30F9226C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57550-D94B-5D5D-17F2-90379139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99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7FD24-59EC-1D56-10A6-B8D37419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4798-0939-C8B8-3371-E93EEF689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60CAA-5101-A103-89E8-C3FB16553D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CE89A-D2F5-4EC2-8DA8-4128CB0FADEF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518D3-6086-BBB5-A79E-6BA6A4FD4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436A7-311A-5536-75BF-DEA35BE5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45814-B4B9-46C1-B88E-596F8E498D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756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4CEBC2-51B6-5CE7-CACE-218E7EEDB489}"/>
              </a:ext>
            </a:extLst>
          </p:cNvPr>
          <p:cNvSpPr/>
          <p:nvPr/>
        </p:nvSpPr>
        <p:spPr>
          <a:xfrm>
            <a:off x="0" y="4508500"/>
            <a:ext cx="12192000" cy="23495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63113-9D31-B009-B0D8-8E9F766B55F2}"/>
              </a:ext>
            </a:extLst>
          </p:cNvPr>
          <p:cNvSpPr txBox="1"/>
          <p:nvPr/>
        </p:nvSpPr>
        <p:spPr>
          <a:xfrm>
            <a:off x="685800" y="431800"/>
            <a:ext cx="10541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891B2"/>
                </a:solidFill>
                <a:latin typeface="Aptos" panose="020B0004020202020204" pitchFamily="34" charset="0"/>
              </a:rPr>
              <a:t>COM769 (79651) - Scalable Advanced Software Solutions</a:t>
            </a:r>
            <a:endParaRPr lang="en-GB" sz="1600" b="1">
              <a:solidFill>
                <a:srgbClr val="0891B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8871D-B0BF-4BBF-0A8C-F0F26F5EE6A8}"/>
              </a:ext>
            </a:extLst>
          </p:cNvPr>
          <p:cNvSpPr txBox="1"/>
          <p:nvPr/>
        </p:nvSpPr>
        <p:spPr>
          <a:xfrm>
            <a:off x="685800" y="1333500"/>
            <a:ext cx="10414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4400" b="1">
                <a:solidFill>
                  <a:srgbClr val="FFFFFF"/>
                </a:solidFill>
                <a:latin typeface="Aptos" panose="020B0004020202020204" pitchFamily="34" charset="0"/>
              </a:rPr>
              <a:t>AI Media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4F672-7EFF-7AE2-24F7-31E7A70B82F4}"/>
              </a:ext>
            </a:extLst>
          </p:cNvPr>
          <p:cNvSpPr txBox="1"/>
          <p:nvPr/>
        </p:nvSpPr>
        <p:spPr>
          <a:xfrm>
            <a:off x="736600" y="2514600"/>
            <a:ext cx="10160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200">
                <a:solidFill>
                  <a:srgbClr val="E2E8F0"/>
                </a:solidFill>
                <a:latin typeface="Aptos" panose="020B0004020202020204" pitchFamily="34" charset="0"/>
              </a:rPr>
              <a:t>Cloud-native media distribution app with creator uploads, consumer engagement, Blob Storage, MySQL, Docker, CI/CD and AI content suggestion matrix.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3F234-9B52-CF2C-BC7A-CAF391ACE128}"/>
              </a:ext>
            </a:extLst>
          </p:cNvPr>
          <p:cNvSpPr txBox="1"/>
          <p:nvPr/>
        </p:nvSpPr>
        <p:spPr>
          <a:xfrm>
            <a:off x="736600" y="5397500"/>
            <a:ext cx="10223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Aptos" panose="020B0004020202020204" pitchFamily="34" charset="0"/>
              </a:rPr>
              <a:t>Student name: [Add your name]    Student number: [Add your number]    Platform: Microsoft Azure + GitHub Actions</a:t>
            </a:r>
            <a:endParaRPr lang="en-GB" sz="1600">
              <a:solidFill>
                <a:srgbClr val="CBD5E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20F72-C261-4EEA-A95B-64A39F7435D2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0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69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2E9C6C-7B39-932A-6DF4-6FD67DD7F684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What the project must demonstrate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7E8C0-DF2A-E2BB-AFA4-5FE1EFBB7508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Coursework Requirement Mapping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03C65B-D217-11CD-F1F5-422B82E6B49D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67AE7F-8A59-B3B0-7AA3-D2CAFA643D01}"/>
              </a:ext>
            </a:extLst>
          </p:cNvPr>
          <p:cNvSpPr/>
          <p:nvPr/>
        </p:nvSpPr>
        <p:spPr>
          <a:xfrm>
            <a:off x="584200" y="17526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846EB5-2537-76EB-1DBC-B9E1C2EBFBC6}"/>
              </a:ext>
            </a:extLst>
          </p:cNvPr>
          <p:cNvSpPr/>
          <p:nvPr/>
        </p:nvSpPr>
        <p:spPr>
          <a:xfrm>
            <a:off x="584200" y="1752600"/>
            <a:ext cx="88900" cy="1587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4B6F9-7B72-8563-AAA1-E5D71A411493}"/>
              </a:ext>
            </a:extLst>
          </p:cNvPr>
          <p:cNvSpPr txBox="1"/>
          <p:nvPr/>
        </p:nvSpPr>
        <p:spPr>
          <a:xfrm>
            <a:off x="800100" y="19177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Task 1: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6A5CF-04B6-4C28-6929-3A0FE4F2C47B}"/>
              </a:ext>
            </a:extLst>
          </p:cNvPr>
          <p:cNvSpPr txBox="1"/>
          <p:nvPr/>
        </p:nvSpPr>
        <p:spPr>
          <a:xfrm>
            <a:off x="800100" y="2298700"/>
            <a:ext cx="3022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Scalable cloud-native media distribution website similar to Instagram, with creator and consumer views.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B0D21E-17F0-115A-773F-86C9D320A522}"/>
              </a:ext>
            </a:extLst>
          </p:cNvPr>
          <p:cNvSpPr/>
          <p:nvPr/>
        </p:nvSpPr>
        <p:spPr>
          <a:xfrm>
            <a:off x="4406900" y="17526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A0F235-8B77-1776-A0C6-EDFFF12B059B}"/>
              </a:ext>
            </a:extLst>
          </p:cNvPr>
          <p:cNvSpPr/>
          <p:nvPr/>
        </p:nvSpPr>
        <p:spPr>
          <a:xfrm>
            <a:off x="4406900" y="1752600"/>
            <a:ext cx="88900" cy="1587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10EC6-B3F5-AFC8-7EFC-29EF95B13E10}"/>
              </a:ext>
            </a:extLst>
          </p:cNvPr>
          <p:cNvSpPr txBox="1"/>
          <p:nvPr/>
        </p:nvSpPr>
        <p:spPr>
          <a:xfrm>
            <a:off x="4622800" y="19177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 panose="020B0004020202020204" pitchFamily="34" charset="0"/>
              </a:rPr>
              <a:t>Task 2: Build and deploy</a:t>
            </a:r>
            <a:endParaRPr lang="en-GB" sz="16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2C6EE-8A50-F5E8-3EEB-A57E141F9645}"/>
              </a:ext>
            </a:extLst>
          </p:cNvPr>
          <p:cNvSpPr txBox="1"/>
          <p:nvPr/>
        </p:nvSpPr>
        <p:spPr>
          <a:xfrm>
            <a:off x="4622800" y="2298700"/>
            <a:ext cx="3022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Implemented as React frontend + Spring Boot REST backend deployed to Microsoft Azure.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4E79A1-9C77-2B21-DAA1-BC7C0E0CE664}"/>
              </a:ext>
            </a:extLst>
          </p:cNvPr>
          <p:cNvSpPr/>
          <p:nvPr/>
        </p:nvSpPr>
        <p:spPr>
          <a:xfrm>
            <a:off x="8229600" y="1752600"/>
            <a:ext cx="3365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D9B5E-C026-ECA0-F11E-49BB3DF38C8E}"/>
              </a:ext>
            </a:extLst>
          </p:cNvPr>
          <p:cNvSpPr/>
          <p:nvPr/>
        </p:nvSpPr>
        <p:spPr>
          <a:xfrm>
            <a:off x="8229600" y="1752600"/>
            <a:ext cx="88900" cy="1587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540D0-AFFA-2B91-834B-3DE428B87CEF}"/>
              </a:ext>
            </a:extLst>
          </p:cNvPr>
          <p:cNvSpPr txBox="1"/>
          <p:nvPr/>
        </p:nvSpPr>
        <p:spPr>
          <a:xfrm>
            <a:off x="8445500" y="1917700"/>
            <a:ext cx="3022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 panose="020B0004020202020204" pitchFamily="34" charset="0"/>
              </a:rPr>
              <a:t>Task 3: Present and demo</a:t>
            </a:r>
            <a:endParaRPr lang="en-GB" sz="16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024A6-2FDA-3C9E-29C1-8E4DDED042D9}"/>
              </a:ext>
            </a:extLst>
          </p:cNvPr>
          <p:cNvSpPr txBox="1"/>
          <p:nvPr/>
        </p:nvSpPr>
        <p:spPr>
          <a:xfrm>
            <a:off x="8445500" y="2298700"/>
            <a:ext cx="3022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PowerPoint deck plus 5-minute demonstration showing live system and backend/Azure activity.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F51D2-2B6D-4659-CFF6-4B10E64EC9EF}"/>
              </a:ext>
            </a:extLst>
          </p:cNvPr>
          <p:cNvSpPr txBox="1"/>
          <p:nvPr/>
        </p:nvSpPr>
        <p:spPr>
          <a:xfrm>
            <a:off x="863600" y="4000500"/>
            <a:ext cx="10096500" cy="14080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Creator users upload image/video media and enter title, caption, location and people present.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Consumer users browse/search media, view posts, comment and rate content.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Advanced features include identity/roles, CI/CD, object storage, analytics and AI suggestions.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The design appraises scalability, cost limits and future cloud-native improvement options.</a:t>
            </a:r>
            <a:endParaRPr lang="en-GB" sz="17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AF12E1-760F-1ADA-BDD6-67836CA2E5EE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85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5F0C8-F79F-6D73-0CF8-A4A68395F013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Why scalable architecture is needed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968EB-D048-0F8F-EA8C-9CD536EC9D1D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Problem and Scalability Issues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81AC3B-922F-9232-B415-DF3827492FFE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B1AD31-ED33-38A5-E13A-0BC8713B33B7}"/>
              </a:ext>
            </a:extLst>
          </p:cNvPr>
          <p:cNvSpPr/>
          <p:nvPr/>
        </p:nvSpPr>
        <p:spPr>
          <a:xfrm>
            <a:off x="660400" y="1778000"/>
            <a:ext cx="32385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D5B12-53BA-8A31-10F0-7ADE23C51A51}"/>
              </a:ext>
            </a:extLst>
          </p:cNvPr>
          <p:cNvSpPr/>
          <p:nvPr/>
        </p:nvSpPr>
        <p:spPr>
          <a:xfrm>
            <a:off x="660400" y="1778000"/>
            <a:ext cx="88900" cy="17145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CD6B9-6D85-CB33-574A-019BA3501D35}"/>
              </a:ext>
            </a:extLst>
          </p:cNvPr>
          <p:cNvSpPr txBox="1"/>
          <p:nvPr/>
        </p:nvSpPr>
        <p:spPr>
          <a:xfrm>
            <a:off x="876300" y="1943100"/>
            <a:ext cx="2895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Large media files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071BC-F734-F900-2796-52EFC23BFA79}"/>
              </a:ext>
            </a:extLst>
          </p:cNvPr>
          <p:cNvSpPr txBox="1"/>
          <p:nvPr/>
        </p:nvSpPr>
        <p:spPr>
          <a:xfrm>
            <a:off x="876300" y="2324100"/>
            <a:ext cx="28956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Video/image bytes grow faster than relational data. Storing them in a database would hurt cost, backup size and performance.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531693-C7E2-E4C1-A68C-C9B8D61F4206}"/>
              </a:ext>
            </a:extLst>
          </p:cNvPr>
          <p:cNvSpPr/>
          <p:nvPr/>
        </p:nvSpPr>
        <p:spPr>
          <a:xfrm>
            <a:off x="4470400" y="1778000"/>
            <a:ext cx="32385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2436F-DA45-C409-C2AF-CCFDA89D0515}"/>
              </a:ext>
            </a:extLst>
          </p:cNvPr>
          <p:cNvSpPr/>
          <p:nvPr/>
        </p:nvSpPr>
        <p:spPr>
          <a:xfrm>
            <a:off x="4470400" y="1778000"/>
            <a:ext cx="88900" cy="1714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8D6EA-1E98-9FA5-B937-BEB8D7F25F7D}"/>
              </a:ext>
            </a:extLst>
          </p:cNvPr>
          <p:cNvSpPr txBox="1"/>
          <p:nvPr/>
        </p:nvSpPr>
        <p:spPr>
          <a:xfrm>
            <a:off x="4686300" y="1943100"/>
            <a:ext cx="2895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Traffic spikes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DF2732-B8F3-1D7C-CA3C-BD832429F503}"/>
              </a:ext>
            </a:extLst>
          </p:cNvPr>
          <p:cNvSpPr txBox="1"/>
          <p:nvPr/>
        </p:nvSpPr>
        <p:spPr>
          <a:xfrm>
            <a:off x="4686300" y="2324100"/>
            <a:ext cx="28956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Creator posts can create sudden feed/search traffic. Static hosting and object storage reduce pressure on backend compute.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D8ED48-EF77-1B73-A611-CAC66373C57B}"/>
              </a:ext>
            </a:extLst>
          </p:cNvPr>
          <p:cNvSpPr/>
          <p:nvPr/>
        </p:nvSpPr>
        <p:spPr>
          <a:xfrm>
            <a:off x="8280400" y="1778000"/>
            <a:ext cx="32385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03FEC-6027-5F0A-AD79-46DF41A03535}"/>
              </a:ext>
            </a:extLst>
          </p:cNvPr>
          <p:cNvSpPr/>
          <p:nvPr/>
        </p:nvSpPr>
        <p:spPr>
          <a:xfrm>
            <a:off x="8280400" y="1778000"/>
            <a:ext cx="88900" cy="1714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0FE93-4576-5295-A2B1-A3EAE7723B7E}"/>
              </a:ext>
            </a:extLst>
          </p:cNvPr>
          <p:cNvSpPr txBox="1"/>
          <p:nvPr/>
        </p:nvSpPr>
        <p:spPr>
          <a:xfrm>
            <a:off x="8496300" y="1943100"/>
            <a:ext cx="2895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Stateful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DB968D-2CDB-F693-4C77-26D6504551DC}"/>
              </a:ext>
            </a:extLst>
          </p:cNvPr>
          <p:cNvSpPr txBox="1"/>
          <p:nvPr/>
        </p:nvSpPr>
        <p:spPr>
          <a:xfrm>
            <a:off x="8496300" y="2324100"/>
            <a:ext cx="2895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Users, posts, comments, ratings and metadata need relational consistency and managed database backups.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C2CEDF-7517-35A5-CBBA-4E59683CD90D}"/>
              </a:ext>
            </a:extLst>
          </p:cNvPr>
          <p:cNvSpPr/>
          <p:nvPr/>
        </p:nvSpPr>
        <p:spPr>
          <a:xfrm>
            <a:off x="660400" y="4064000"/>
            <a:ext cx="32385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483D7C-3B63-281C-D2A5-125C1F4D9499}"/>
              </a:ext>
            </a:extLst>
          </p:cNvPr>
          <p:cNvSpPr/>
          <p:nvPr/>
        </p:nvSpPr>
        <p:spPr>
          <a:xfrm>
            <a:off x="660400" y="4064000"/>
            <a:ext cx="88900" cy="1714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C43094-A348-6C30-F0BE-EF55B518181B}"/>
              </a:ext>
            </a:extLst>
          </p:cNvPr>
          <p:cNvSpPr txBox="1"/>
          <p:nvPr/>
        </p:nvSpPr>
        <p:spPr>
          <a:xfrm>
            <a:off x="876300" y="4229100"/>
            <a:ext cx="2895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Deployment drift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E1E1DC-CCF6-3090-448D-26E3B1F618C6}"/>
              </a:ext>
            </a:extLst>
          </p:cNvPr>
          <p:cNvSpPr txBox="1"/>
          <p:nvPr/>
        </p:nvSpPr>
        <p:spPr>
          <a:xfrm>
            <a:off x="876300" y="4610100"/>
            <a:ext cx="28956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Manual releases can produce mismatched code, containers and environment settings. CI/CD makes deployment repeatable.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7A9C29-9195-141E-2BB2-67603E12E4D9}"/>
              </a:ext>
            </a:extLst>
          </p:cNvPr>
          <p:cNvSpPr/>
          <p:nvPr/>
        </p:nvSpPr>
        <p:spPr>
          <a:xfrm>
            <a:off x="4470400" y="4064000"/>
            <a:ext cx="32385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5B3E8D-0324-432B-945B-8C2E6488905F}"/>
              </a:ext>
            </a:extLst>
          </p:cNvPr>
          <p:cNvSpPr/>
          <p:nvPr/>
        </p:nvSpPr>
        <p:spPr>
          <a:xfrm>
            <a:off x="4470400" y="4064000"/>
            <a:ext cx="88900" cy="1714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ACA855-2BDF-1A74-E5E5-3E8BD3BA200D}"/>
              </a:ext>
            </a:extLst>
          </p:cNvPr>
          <p:cNvSpPr txBox="1"/>
          <p:nvPr/>
        </p:nvSpPr>
        <p:spPr>
          <a:xfrm>
            <a:off x="4686300" y="4229100"/>
            <a:ext cx="2895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Cost constraints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B4849-2083-D0CC-649C-4A51815E468D}"/>
              </a:ext>
            </a:extLst>
          </p:cNvPr>
          <p:cNvSpPr txBox="1"/>
          <p:nvPr/>
        </p:nvSpPr>
        <p:spPr>
          <a:xfrm>
            <a:off x="4686300" y="4610100"/>
            <a:ext cx="2895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Coursework can use low/free tiers, so the live solution balances cloud-native patterns with controlled Azure spend.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C591D4-AE85-06FF-112A-9A60DDC3BF18}"/>
              </a:ext>
            </a:extLst>
          </p:cNvPr>
          <p:cNvSpPr/>
          <p:nvPr/>
        </p:nvSpPr>
        <p:spPr>
          <a:xfrm>
            <a:off x="8280400" y="4064000"/>
            <a:ext cx="323850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139FDB-5C2C-C461-41EA-917ADF3F5DC1}"/>
              </a:ext>
            </a:extLst>
          </p:cNvPr>
          <p:cNvSpPr/>
          <p:nvPr/>
        </p:nvSpPr>
        <p:spPr>
          <a:xfrm>
            <a:off x="8280400" y="4064000"/>
            <a:ext cx="88900" cy="1714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C781F-37FA-C1FF-A1C4-C0AF02032FA3}"/>
              </a:ext>
            </a:extLst>
          </p:cNvPr>
          <p:cNvSpPr txBox="1"/>
          <p:nvPr/>
        </p:nvSpPr>
        <p:spPr>
          <a:xfrm>
            <a:off x="8496300" y="4229100"/>
            <a:ext cx="2895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Future growth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DC5CF8-70C9-B627-C836-B52C14671C3D}"/>
              </a:ext>
            </a:extLst>
          </p:cNvPr>
          <p:cNvSpPr txBox="1"/>
          <p:nvPr/>
        </p:nvSpPr>
        <p:spPr>
          <a:xfrm>
            <a:off x="8496300" y="4610100"/>
            <a:ext cx="2895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The same Docker image can later run with autoscaling replicas, Front Door/CDN and managed cache.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1D4F7A-E3EC-EB50-A315-0C67E991B418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2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06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72FDD-23C4-5621-9F7D-D50B5691A606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100" b="1">
                <a:solidFill>
                  <a:srgbClr val="2563EB"/>
                </a:solidFill>
                <a:latin typeface="Aptos" panose="020B0004020202020204" pitchFamily="34" charset="0"/>
              </a:rPr>
              <a:t>High-level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14FAB-6B6F-6336-4C01-572E830EF8C3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Cloud Architecture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A991E-ACD2-4CE7-C851-141C3F810B1A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1A119C-EDF6-8729-8525-770CC5580909}"/>
              </a:ext>
            </a:extLst>
          </p:cNvPr>
          <p:cNvSpPr/>
          <p:nvPr/>
        </p:nvSpPr>
        <p:spPr>
          <a:xfrm>
            <a:off x="482600" y="2768600"/>
            <a:ext cx="1460500" cy="101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DF9AE-7D09-5113-4E4C-C06C300FAFAF}"/>
              </a:ext>
            </a:extLst>
          </p:cNvPr>
          <p:cNvSpPr txBox="1"/>
          <p:nvPr/>
        </p:nvSpPr>
        <p:spPr>
          <a:xfrm>
            <a:off x="635000" y="2882900"/>
            <a:ext cx="11557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B7F6F-BE17-4010-BCB9-7C59A0CEE95D}"/>
              </a:ext>
            </a:extLst>
          </p:cNvPr>
          <p:cNvSpPr txBox="1"/>
          <p:nvPr/>
        </p:nvSpPr>
        <p:spPr>
          <a:xfrm>
            <a:off x="635000" y="3200400"/>
            <a:ext cx="11557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Creators and consumers use browser UI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09B86B-9F3E-F5AB-9FC1-FF2B7EB70824}"/>
              </a:ext>
            </a:extLst>
          </p:cNvPr>
          <p:cNvSpPr/>
          <p:nvPr/>
        </p:nvSpPr>
        <p:spPr>
          <a:xfrm>
            <a:off x="2565400" y="1651000"/>
            <a:ext cx="2349500" cy="12065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5FDBE-84AB-2BCF-47A8-06C809771E44}"/>
              </a:ext>
            </a:extLst>
          </p:cNvPr>
          <p:cNvSpPr txBox="1"/>
          <p:nvPr/>
        </p:nvSpPr>
        <p:spPr>
          <a:xfrm>
            <a:off x="2717800" y="1765300"/>
            <a:ext cx="20447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Azure Static Website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650F77-D9F4-36AC-A8EA-33C8C2EBBD67}"/>
              </a:ext>
            </a:extLst>
          </p:cNvPr>
          <p:cNvSpPr txBox="1"/>
          <p:nvPr/>
        </p:nvSpPr>
        <p:spPr>
          <a:xfrm>
            <a:off x="2717800" y="2082800"/>
            <a:ext cx="2044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React/Vite frontend hosted on Storage static website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7CCBBA-A6BD-5A4B-47AD-278C0A7E5E5B}"/>
              </a:ext>
            </a:extLst>
          </p:cNvPr>
          <p:cNvSpPr/>
          <p:nvPr/>
        </p:nvSpPr>
        <p:spPr>
          <a:xfrm>
            <a:off x="5715000" y="1651000"/>
            <a:ext cx="2413000" cy="12065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9CD2A1-520C-5C1E-C3C5-36D86D8174BB}"/>
              </a:ext>
            </a:extLst>
          </p:cNvPr>
          <p:cNvSpPr txBox="1"/>
          <p:nvPr/>
        </p:nvSpPr>
        <p:spPr>
          <a:xfrm>
            <a:off x="5867400" y="1765300"/>
            <a:ext cx="2108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Azure Web App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B0663-1641-C69C-5B10-9B9725A825FC}"/>
              </a:ext>
            </a:extLst>
          </p:cNvPr>
          <p:cNvSpPr txBox="1"/>
          <p:nvPr/>
        </p:nvSpPr>
        <p:spPr>
          <a:xfrm>
            <a:off x="5867400" y="2082800"/>
            <a:ext cx="2108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Single Spring Boot Docker backend container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92FDFD-697B-2AC2-B2F0-236002DAAC4E}"/>
              </a:ext>
            </a:extLst>
          </p:cNvPr>
          <p:cNvSpPr/>
          <p:nvPr/>
        </p:nvSpPr>
        <p:spPr>
          <a:xfrm>
            <a:off x="9334500" y="1206500"/>
            <a:ext cx="2159000" cy="1041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1CA962-49A7-E254-F550-D6C56FD0FB72}"/>
              </a:ext>
            </a:extLst>
          </p:cNvPr>
          <p:cNvSpPr txBox="1"/>
          <p:nvPr/>
        </p:nvSpPr>
        <p:spPr>
          <a:xfrm>
            <a:off x="9486900" y="1320800"/>
            <a:ext cx="1854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Azure Blob 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4C3E57-C1E5-2BF1-C432-4B9156665F20}"/>
              </a:ext>
            </a:extLst>
          </p:cNvPr>
          <p:cNvSpPr txBox="1"/>
          <p:nvPr/>
        </p:nvSpPr>
        <p:spPr>
          <a:xfrm>
            <a:off x="9486900" y="1638300"/>
            <a:ext cx="1854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media container stores uploaded files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869532-EE72-F926-AB01-D644D158C5F1}"/>
              </a:ext>
            </a:extLst>
          </p:cNvPr>
          <p:cNvSpPr/>
          <p:nvPr/>
        </p:nvSpPr>
        <p:spPr>
          <a:xfrm>
            <a:off x="9334500" y="2730500"/>
            <a:ext cx="2159000" cy="10414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C4D7-112A-A2A0-A2D6-09CE4CE7D4EE}"/>
              </a:ext>
            </a:extLst>
          </p:cNvPr>
          <p:cNvSpPr txBox="1"/>
          <p:nvPr/>
        </p:nvSpPr>
        <p:spPr>
          <a:xfrm>
            <a:off x="9486900" y="2844800"/>
            <a:ext cx="1854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Azure MySQL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D80349-7EF3-4832-A8D7-7690850C9F54}"/>
              </a:ext>
            </a:extLst>
          </p:cNvPr>
          <p:cNvSpPr txBox="1"/>
          <p:nvPr/>
        </p:nvSpPr>
        <p:spPr>
          <a:xfrm>
            <a:off x="9486900" y="3162300"/>
            <a:ext cx="1854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ai_media_db stores users, posts and metadata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2862A6-BFFF-FAA4-3570-A1887F0340CB}"/>
              </a:ext>
            </a:extLst>
          </p:cNvPr>
          <p:cNvSpPr/>
          <p:nvPr/>
        </p:nvSpPr>
        <p:spPr>
          <a:xfrm>
            <a:off x="5715000" y="4318000"/>
            <a:ext cx="2413000" cy="1041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9E0544-B0A4-B5B5-27E0-8FFD0249D0C2}"/>
              </a:ext>
            </a:extLst>
          </p:cNvPr>
          <p:cNvSpPr txBox="1"/>
          <p:nvPr/>
        </p:nvSpPr>
        <p:spPr>
          <a:xfrm>
            <a:off x="5867400" y="4432300"/>
            <a:ext cx="21082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Azure Container Registry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92992-D15A-4818-DBB3-BCF3B45F12FF}"/>
              </a:ext>
            </a:extLst>
          </p:cNvPr>
          <p:cNvSpPr txBox="1"/>
          <p:nvPr/>
        </p:nvSpPr>
        <p:spPr>
          <a:xfrm>
            <a:off x="5867400" y="4749800"/>
            <a:ext cx="2108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aimedia-single-backend image repository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B283D2-E760-F3C7-27C2-D4BCDA1A14C1}"/>
              </a:ext>
            </a:extLst>
          </p:cNvPr>
          <p:cNvSpPr/>
          <p:nvPr/>
        </p:nvSpPr>
        <p:spPr>
          <a:xfrm>
            <a:off x="2565400" y="4318000"/>
            <a:ext cx="2349500" cy="10414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BABF2-A128-4BC8-6DF5-81F77411BBEA}"/>
              </a:ext>
            </a:extLst>
          </p:cNvPr>
          <p:cNvSpPr txBox="1"/>
          <p:nvPr/>
        </p:nvSpPr>
        <p:spPr>
          <a:xfrm>
            <a:off x="2717800" y="4432300"/>
            <a:ext cx="20447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GitHub Actions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BB9230-BA1C-85FF-EC2B-2180AA80CBCA}"/>
              </a:ext>
            </a:extLst>
          </p:cNvPr>
          <p:cNvSpPr txBox="1"/>
          <p:nvPr/>
        </p:nvSpPr>
        <p:spPr>
          <a:xfrm>
            <a:off x="2717800" y="4749800"/>
            <a:ext cx="20447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Build, push and deploy pipeline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F677031-8EBA-B369-A99C-8DE675BDF8F0}"/>
              </a:ext>
            </a:extLst>
          </p:cNvPr>
          <p:cNvCxnSpPr/>
          <p:nvPr/>
        </p:nvCxnSpPr>
        <p:spPr>
          <a:xfrm flipV="1">
            <a:off x="1943100" y="2260600"/>
            <a:ext cx="622300" cy="10160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2E6615-90B6-7293-A9FC-42473475AD03}"/>
              </a:ext>
            </a:extLst>
          </p:cNvPr>
          <p:cNvCxnSpPr/>
          <p:nvPr/>
        </p:nvCxnSpPr>
        <p:spPr>
          <a:xfrm>
            <a:off x="4914900" y="2260600"/>
            <a:ext cx="8001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7E4051-37B3-54DE-F0F4-0E7DB791AF73}"/>
              </a:ext>
            </a:extLst>
          </p:cNvPr>
          <p:cNvCxnSpPr/>
          <p:nvPr/>
        </p:nvCxnSpPr>
        <p:spPr>
          <a:xfrm flipV="1">
            <a:off x="8128000" y="1727200"/>
            <a:ext cx="1206500" cy="533400"/>
          </a:xfrm>
          <a:prstGeom prst="line">
            <a:avLst/>
          </a:prstGeom>
          <a:ln w="25400">
            <a:solidFill>
              <a:srgbClr val="7C3A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510B3A-941F-6DBA-B56B-CAAC3F33E41E}"/>
              </a:ext>
            </a:extLst>
          </p:cNvPr>
          <p:cNvCxnSpPr/>
          <p:nvPr/>
        </p:nvCxnSpPr>
        <p:spPr>
          <a:xfrm>
            <a:off x="8128000" y="2413000"/>
            <a:ext cx="1206500" cy="838200"/>
          </a:xfrm>
          <a:prstGeom prst="line">
            <a:avLst/>
          </a:prstGeom>
          <a:ln w="25400">
            <a:solidFill>
              <a:srgbClr val="D9770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BCB04F-EC4C-B385-A3C3-A66DD4653DA0}"/>
              </a:ext>
            </a:extLst>
          </p:cNvPr>
          <p:cNvCxnSpPr/>
          <p:nvPr/>
        </p:nvCxnSpPr>
        <p:spPr>
          <a:xfrm>
            <a:off x="4914900" y="4838700"/>
            <a:ext cx="800100" cy="0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ABBF31-7D86-7DA4-2279-303406737C22}"/>
              </a:ext>
            </a:extLst>
          </p:cNvPr>
          <p:cNvCxnSpPr/>
          <p:nvPr/>
        </p:nvCxnSpPr>
        <p:spPr>
          <a:xfrm flipV="1">
            <a:off x="6921500" y="2857500"/>
            <a:ext cx="0" cy="1460500"/>
          </a:xfrm>
          <a:prstGeom prst="line">
            <a:avLst/>
          </a:prstGeom>
          <a:ln w="25400">
            <a:solidFill>
              <a:srgbClr val="16A3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DC6A966-96B1-19DC-3E33-FF17FF71BB52}"/>
              </a:ext>
            </a:extLst>
          </p:cNvPr>
          <p:cNvSpPr txBox="1"/>
          <p:nvPr/>
        </p:nvSpPr>
        <p:spPr>
          <a:xfrm>
            <a:off x="635000" y="58674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1E293B"/>
                </a:solidFill>
                <a:latin typeface="Aptos" panose="020B0004020202020204" pitchFamily="34" charset="0"/>
              </a:rPr>
              <a:t>Key idea: frontend is static and cheap to serve; backend handles REST logic; Blob stores large media; MySQL stores structured metadata.</a:t>
            </a:r>
            <a:endParaRPr lang="en-GB" sz="1500" b="1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FDA006-383E-7386-C95B-AF4734F60A87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3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9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BABEB-2DB5-2AFA-8D90-999D3543F38D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Add screenshots from Azure Portal here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EC650-3988-ADF6-5441-1D8C4716BBE1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0F172A"/>
                </a:solidFill>
                <a:latin typeface="Aptos" panose="020B0004020202020204" pitchFamily="34" charset="0"/>
              </a:rPr>
              <a:t>Azure Services Used: Screenshot Proof Slide</a:t>
            </a:r>
            <a:endParaRPr lang="en-GB" sz="28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388651-C279-FE1D-3E9D-2EA48552A9AD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25F49-2826-D3BF-4202-5C5DF752A748}"/>
              </a:ext>
            </a:extLst>
          </p:cNvPr>
          <p:cNvSpPr/>
          <p:nvPr/>
        </p:nvSpPr>
        <p:spPr>
          <a:xfrm>
            <a:off x="533400" y="1701800"/>
            <a:ext cx="3429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60906-AA9D-9410-DA17-D4200145C8B5}"/>
              </a:ext>
            </a:extLst>
          </p:cNvPr>
          <p:cNvSpPr txBox="1"/>
          <p:nvPr/>
        </p:nvSpPr>
        <p:spPr>
          <a:xfrm>
            <a:off x="723900" y="1930400"/>
            <a:ext cx="304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Resource 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B3002-B0EE-590D-DF02-B2FF816D0C23}"/>
              </a:ext>
            </a:extLst>
          </p:cNvPr>
          <p:cNvSpPr txBox="1"/>
          <p:nvPr/>
        </p:nvSpPr>
        <p:spPr>
          <a:xfrm>
            <a:off x="723900" y="2311400"/>
            <a:ext cx="304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Screenshot: rg-ai-media-platform overview showing all resources.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3E04F-0FBE-9D57-FA19-FF23BC3F7F19}"/>
              </a:ext>
            </a:extLst>
          </p:cNvPr>
          <p:cNvSpPr/>
          <p:nvPr/>
        </p:nvSpPr>
        <p:spPr>
          <a:xfrm>
            <a:off x="4381500" y="1701800"/>
            <a:ext cx="3429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D40E9-BA7A-59DB-A81F-6AA2FE977C0B}"/>
              </a:ext>
            </a:extLst>
          </p:cNvPr>
          <p:cNvSpPr txBox="1"/>
          <p:nvPr/>
        </p:nvSpPr>
        <p:spPr>
          <a:xfrm>
            <a:off x="4572000" y="1930400"/>
            <a:ext cx="304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Backend Web 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D88A8-0086-FD73-29B2-5DF0A40289D2}"/>
              </a:ext>
            </a:extLst>
          </p:cNvPr>
          <p:cNvSpPr txBox="1"/>
          <p:nvPr/>
        </p:nvSpPr>
        <p:spPr>
          <a:xfrm>
            <a:off x="4572000" y="2311400"/>
            <a:ext cx="304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Screenshot: ai-media-gateway-786 running custom container.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BF7F24-411B-8BBA-CCFC-DC6B41B1596C}"/>
              </a:ext>
            </a:extLst>
          </p:cNvPr>
          <p:cNvSpPr/>
          <p:nvPr/>
        </p:nvSpPr>
        <p:spPr>
          <a:xfrm>
            <a:off x="8229600" y="1701800"/>
            <a:ext cx="3429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DC262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BB30C-D372-BECA-EFB7-864331CB56E8}"/>
              </a:ext>
            </a:extLst>
          </p:cNvPr>
          <p:cNvSpPr txBox="1"/>
          <p:nvPr/>
        </p:nvSpPr>
        <p:spPr>
          <a:xfrm>
            <a:off x="8420100" y="1930400"/>
            <a:ext cx="304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Azure Container Registry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F2C11-350E-1E71-1486-14F693ACEB71}"/>
              </a:ext>
            </a:extLst>
          </p:cNvPr>
          <p:cNvSpPr txBox="1"/>
          <p:nvPr/>
        </p:nvSpPr>
        <p:spPr>
          <a:xfrm>
            <a:off x="8420100" y="2311400"/>
            <a:ext cx="304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Screenshot: aimediaacr786 repositories / aimedia-single-backend tags.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68A3D8-A31F-D9CE-5F53-AD6967D1FB69}"/>
              </a:ext>
            </a:extLst>
          </p:cNvPr>
          <p:cNvSpPr/>
          <p:nvPr/>
        </p:nvSpPr>
        <p:spPr>
          <a:xfrm>
            <a:off x="533400" y="3810000"/>
            <a:ext cx="3429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7C3AE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B65884-D8B8-A890-366D-00FF98ECFE22}"/>
              </a:ext>
            </a:extLst>
          </p:cNvPr>
          <p:cNvSpPr txBox="1"/>
          <p:nvPr/>
        </p:nvSpPr>
        <p:spPr>
          <a:xfrm>
            <a:off x="723900" y="4038600"/>
            <a:ext cx="304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Storage + Blob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D8D7D-12EB-BD2E-EC2B-F8A52574E823}"/>
              </a:ext>
            </a:extLst>
          </p:cNvPr>
          <p:cNvSpPr txBox="1"/>
          <p:nvPr/>
        </p:nvSpPr>
        <p:spPr>
          <a:xfrm>
            <a:off x="723900" y="4419600"/>
            <a:ext cx="304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Screenshot: aiappmedia786, static website and media container.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8B171C-B459-638B-5D72-704399C2C20D}"/>
              </a:ext>
            </a:extLst>
          </p:cNvPr>
          <p:cNvSpPr/>
          <p:nvPr/>
        </p:nvSpPr>
        <p:spPr>
          <a:xfrm>
            <a:off x="4381500" y="3810000"/>
            <a:ext cx="3429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70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C6A801-D79A-EFC4-D9B2-9DC1EAE80228}"/>
              </a:ext>
            </a:extLst>
          </p:cNvPr>
          <p:cNvSpPr txBox="1"/>
          <p:nvPr/>
        </p:nvSpPr>
        <p:spPr>
          <a:xfrm>
            <a:off x="4572000" y="4038600"/>
            <a:ext cx="304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MySQL Flexible 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C1592-4F70-F0E7-D839-F8921BCAEC80}"/>
              </a:ext>
            </a:extLst>
          </p:cNvPr>
          <p:cNvSpPr txBox="1"/>
          <p:nvPr/>
        </p:nvSpPr>
        <p:spPr>
          <a:xfrm>
            <a:off x="4572000" y="4419600"/>
            <a:ext cx="304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Screenshot: aiappproject-server and database ai_media_db.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16D824-9084-D6A5-64B8-1F04F2CDDB85}"/>
              </a:ext>
            </a:extLst>
          </p:cNvPr>
          <p:cNvSpPr/>
          <p:nvPr/>
        </p:nvSpPr>
        <p:spPr>
          <a:xfrm>
            <a:off x="8229600" y="3810000"/>
            <a:ext cx="3429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0891B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97DF36-D647-3640-DBBA-B31B67013C8C}"/>
              </a:ext>
            </a:extLst>
          </p:cNvPr>
          <p:cNvSpPr txBox="1"/>
          <p:nvPr/>
        </p:nvSpPr>
        <p:spPr>
          <a:xfrm>
            <a:off x="8420100" y="4038600"/>
            <a:ext cx="3048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VNet / Private DNS / CI/CD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D8605-F9A2-7924-5D0D-7508B1665224}"/>
              </a:ext>
            </a:extLst>
          </p:cNvPr>
          <p:cNvSpPr txBox="1"/>
          <p:nvPr/>
        </p:nvSpPr>
        <p:spPr>
          <a:xfrm>
            <a:off x="8420100" y="4419600"/>
            <a:ext cx="304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Screenshot: VNet integration or GitHub Actions successful run.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8295BD-7565-CBE0-01C9-E0A4401A8DB8}"/>
              </a:ext>
            </a:extLst>
          </p:cNvPr>
          <p:cNvSpPr txBox="1"/>
          <p:nvPr/>
        </p:nvSpPr>
        <p:spPr>
          <a:xfrm>
            <a:off x="787400" y="5778500"/>
            <a:ext cx="1066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 panose="020B0004020202020204" pitchFamily="34" charset="0"/>
              </a:rPr>
              <a:t>Tip: Replace each dashed box with a screenshot. Keep the labels so the marker can quickly see evidence of each Azure service.</a:t>
            </a:r>
            <a:endParaRPr lang="en-GB" sz="15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E3F355-F6EB-BEF8-AE85-044C8C9A53D2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4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8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89F77-0E5E-AF79-496D-7F0B578983AD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How users move through the system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D902B-4AF4-36F4-4599-B0A7547DD1A5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Application Control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60D18B-0714-6104-30E0-16BACE0DF004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E3C0E7-5E3D-45CD-B397-9E15032D8B42}"/>
              </a:ext>
            </a:extLst>
          </p:cNvPr>
          <p:cNvSpPr/>
          <p:nvPr/>
        </p:nvSpPr>
        <p:spPr>
          <a:xfrm>
            <a:off x="825500" y="1905000"/>
            <a:ext cx="2667000" cy="10795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DDC0A-03CB-6467-0419-C2A1474812DF}"/>
              </a:ext>
            </a:extLst>
          </p:cNvPr>
          <p:cNvSpPr txBox="1"/>
          <p:nvPr/>
        </p:nvSpPr>
        <p:spPr>
          <a:xfrm>
            <a:off x="977900" y="2019300"/>
            <a:ext cx="2362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1. Register/Login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EF228-BBDA-7FDF-6485-F1E7CBA3014A}"/>
              </a:ext>
            </a:extLst>
          </p:cNvPr>
          <p:cNvSpPr txBox="1"/>
          <p:nvPr/>
        </p:nvSpPr>
        <p:spPr>
          <a:xfrm>
            <a:off x="977900" y="2336800"/>
            <a:ext cx="2362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User authenticates and receives JWT/role information.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ACF4CC-A4A0-AC94-3E02-77CD9CFBD7E0}"/>
              </a:ext>
            </a:extLst>
          </p:cNvPr>
          <p:cNvSpPr/>
          <p:nvPr/>
        </p:nvSpPr>
        <p:spPr>
          <a:xfrm>
            <a:off x="4635500" y="1905000"/>
            <a:ext cx="2921000" cy="10795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BC633-8E8D-6D5F-0752-5140687499AC}"/>
              </a:ext>
            </a:extLst>
          </p:cNvPr>
          <p:cNvSpPr txBox="1"/>
          <p:nvPr/>
        </p:nvSpPr>
        <p:spPr>
          <a:xfrm>
            <a:off x="4787900" y="2019300"/>
            <a:ext cx="2616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2. Role Routing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63D9C-C450-8FDB-3E5E-57F1BCDDBE45}"/>
              </a:ext>
            </a:extLst>
          </p:cNvPr>
          <p:cNvSpPr txBox="1"/>
          <p:nvPr/>
        </p:nvSpPr>
        <p:spPr>
          <a:xfrm>
            <a:off x="4787900" y="2336800"/>
            <a:ext cx="2616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Creator sees upload workflow. Consumer sees feed/search workflows.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B36D9B-7AB5-ECF8-23CD-EEAE26C20FB7}"/>
              </a:ext>
            </a:extLst>
          </p:cNvPr>
          <p:cNvSpPr/>
          <p:nvPr/>
        </p:nvSpPr>
        <p:spPr>
          <a:xfrm>
            <a:off x="8636000" y="1905000"/>
            <a:ext cx="2667000" cy="10795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E4DCF-B3DD-4EF9-4A1D-9314D3D82B5D}"/>
              </a:ext>
            </a:extLst>
          </p:cNvPr>
          <p:cNvSpPr txBox="1"/>
          <p:nvPr/>
        </p:nvSpPr>
        <p:spPr>
          <a:xfrm>
            <a:off x="8788400" y="2019300"/>
            <a:ext cx="2362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3. API Calls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88F3A-EE6F-39BD-B464-C9C1D1A064CD}"/>
              </a:ext>
            </a:extLst>
          </p:cNvPr>
          <p:cNvSpPr txBox="1"/>
          <p:nvPr/>
        </p:nvSpPr>
        <p:spPr>
          <a:xfrm>
            <a:off x="8788400" y="2336800"/>
            <a:ext cx="2362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Frontend sends REST requests with JSON or multipart uploads.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7A0B3-EF1C-F02E-04CD-1A822428976C}"/>
              </a:ext>
            </a:extLst>
          </p:cNvPr>
          <p:cNvCxnSpPr/>
          <p:nvPr/>
        </p:nvCxnSpPr>
        <p:spPr>
          <a:xfrm>
            <a:off x="3492500" y="2438400"/>
            <a:ext cx="11430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9BCAB5-3B47-0FF5-F225-6F3D0E74AE99}"/>
              </a:ext>
            </a:extLst>
          </p:cNvPr>
          <p:cNvCxnSpPr/>
          <p:nvPr/>
        </p:nvCxnSpPr>
        <p:spPr>
          <a:xfrm>
            <a:off x="7556500" y="2438400"/>
            <a:ext cx="1079500" cy="0"/>
          </a:xfrm>
          <a:prstGeom prst="line">
            <a:avLst/>
          </a:prstGeom>
          <a:ln w="25400">
            <a:solidFill>
              <a:srgbClr val="16A3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AD58BC-CD62-CE89-2476-B37E0B5D52F5}"/>
              </a:ext>
            </a:extLst>
          </p:cNvPr>
          <p:cNvSpPr/>
          <p:nvPr/>
        </p:nvSpPr>
        <p:spPr>
          <a:xfrm>
            <a:off x="825500" y="4127500"/>
            <a:ext cx="2667000" cy="10795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D378-8F59-EED6-62C4-A2B44D5430C6}"/>
              </a:ext>
            </a:extLst>
          </p:cNvPr>
          <p:cNvSpPr txBox="1"/>
          <p:nvPr/>
        </p:nvSpPr>
        <p:spPr>
          <a:xfrm>
            <a:off x="977900" y="4241800"/>
            <a:ext cx="2362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4. Backend Logic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D66ED4-D2F8-9020-7B26-CD6EAF866FEA}"/>
              </a:ext>
            </a:extLst>
          </p:cNvPr>
          <p:cNvSpPr txBox="1"/>
          <p:nvPr/>
        </p:nvSpPr>
        <p:spPr>
          <a:xfrm>
            <a:off x="977900" y="4559300"/>
            <a:ext cx="2362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Spring Boot validates requests and calls repositories/services.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7B18E7-6128-750B-814D-808DC7134792}"/>
              </a:ext>
            </a:extLst>
          </p:cNvPr>
          <p:cNvSpPr/>
          <p:nvPr/>
        </p:nvSpPr>
        <p:spPr>
          <a:xfrm>
            <a:off x="4635500" y="4127500"/>
            <a:ext cx="2921000" cy="10795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C058A4-EDD8-AB49-00EA-97B3A3668564}"/>
              </a:ext>
            </a:extLst>
          </p:cNvPr>
          <p:cNvSpPr txBox="1"/>
          <p:nvPr/>
        </p:nvSpPr>
        <p:spPr>
          <a:xfrm>
            <a:off x="4787900" y="4241800"/>
            <a:ext cx="2616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5. Persistence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4CD45C-8FF2-1577-060E-697682C7D81E}"/>
              </a:ext>
            </a:extLst>
          </p:cNvPr>
          <p:cNvSpPr txBox="1"/>
          <p:nvPr/>
        </p:nvSpPr>
        <p:spPr>
          <a:xfrm>
            <a:off x="4787900" y="4559300"/>
            <a:ext cx="2616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Blob stores media bytes; MySQL stores structured records.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AA7BEB-AC8D-F001-E73E-81026DFB8CE0}"/>
              </a:ext>
            </a:extLst>
          </p:cNvPr>
          <p:cNvSpPr/>
          <p:nvPr/>
        </p:nvSpPr>
        <p:spPr>
          <a:xfrm>
            <a:off x="8636000" y="4127500"/>
            <a:ext cx="2667000" cy="10795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5C2B96-5EE0-05A7-7452-05267671CC42}"/>
              </a:ext>
            </a:extLst>
          </p:cNvPr>
          <p:cNvSpPr txBox="1"/>
          <p:nvPr/>
        </p:nvSpPr>
        <p:spPr>
          <a:xfrm>
            <a:off x="8788400" y="4241800"/>
            <a:ext cx="2362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6. Response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2902AA-049C-A442-3565-B6A86BBB1461}"/>
              </a:ext>
            </a:extLst>
          </p:cNvPr>
          <p:cNvSpPr txBox="1"/>
          <p:nvPr/>
        </p:nvSpPr>
        <p:spPr>
          <a:xfrm>
            <a:off x="8788400" y="4559300"/>
            <a:ext cx="23622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Frontend renders media cards, analytics, comments, ratings and AI output.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CD6C02-2EB7-601B-A2D0-28D10CB8454C}"/>
              </a:ext>
            </a:extLst>
          </p:cNvPr>
          <p:cNvCxnSpPr/>
          <p:nvPr/>
        </p:nvCxnSpPr>
        <p:spPr>
          <a:xfrm>
            <a:off x="3492500" y="4660900"/>
            <a:ext cx="1143000" cy="0"/>
          </a:xfrm>
          <a:prstGeom prst="line">
            <a:avLst/>
          </a:prstGeom>
          <a:ln w="25400">
            <a:solidFill>
              <a:srgbClr val="7C3A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B2B2FD-F1B1-4BFF-A587-BB78D775E908}"/>
              </a:ext>
            </a:extLst>
          </p:cNvPr>
          <p:cNvCxnSpPr/>
          <p:nvPr/>
        </p:nvCxnSpPr>
        <p:spPr>
          <a:xfrm>
            <a:off x="7556500" y="4660900"/>
            <a:ext cx="1079500" cy="0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4A3505-D001-349D-4C8A-12DC92154560}"/>
              </a:ext>
            </a:extLst>
          </p:cNvPr>
          <p:cNvSpPr txBox="1"/>
          <p:nvPr/>
        </p:nvSpPr>
        <p:spPr>
          <a:xfrm>
            <a:off x="736600" y="5905500"/>
            <a:ext cx="107315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1E293B"/>
                </a:solidFill>
                <a:latin typeface="Aptos" panose="020B0004020202020204" pitchFamily="34" charset="0"/>
              </a:rPr>
              <a:t>This slide is useful in the video: show a browser action, then show the matching Azure backend/storage/database effect.</a:t>
            </a:r>
            <a:endParaRPr lang="en-GB" sz="1500" b="1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18D707-A74C-4D00-403E-9768C77684EA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5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67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8ECFBB-B103-8D7E-FFFA-57B83BB69B4A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100" b="1">
                <a:solidFill>
                  <a:srgbClr val="2563EB"/>
                </a:solidFill>
                <a:latin typeface="Aptos" panose="020B0004020202020204" pitchFamily="34" charset="0"/>
              </a:rPr>
              <a:t>Blob for files, MySQL for metadata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87768-672E-466E-A4F8-02ED36A97309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Media Upload Data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F20FE-A45D-4D7B-7FB1-8A1CA2F38A2D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F9C986-B6B5-FB76-3756-D164BBD502B8}"/>
              </a:ext>
            </a:extLst>
          </p:cNvPr>
          <p:cNvSpPr/>
          <p:nvPr/>
        </p:nvSpPr>
        <p:spPr>
          <a:xfrm>
            <a:off x="660400" y="2032000"/>
            <a:ext cx="2095500" cy="1143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CBD91-C7E9-CF19-899F-56F9CE57F923}"/>
              </a:ext>
            </a:extLst>
          </p:cNvPr>
          <p:cNvSpPr txBox="1"/>
          <p:nvPr/>
        </p:nvSpPr>
        <p:spPr>
          <a:xfrm>
            <a:off x="812800" y="2146300"/>
            <a:ext cx="1790700" cy="5245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Creator Upload 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48988-AE60-7074-57C1-F51C253840E6}"/>
              </a:ext>
            </a:extLst>
          </p:cNvPr>
          <p:cNvSpPr txBox="1"/>
          <p:nvPr/>
        </p:nvSpPr>
        <p:spPr>
          <a:xfrm>
            <a:off x="812800" y="2463800"/>
            <a:ext cx="17907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Title, caption, location, people tags and file selected.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1C0FBA-E75C-7EA6-0EBC-27CA9A44F266}"/>
              </a:ext>
            </a:extLst>
          </p:cNvPr>
          <p:cNvSpPr/>
          <p:nvPr/>
        </p:nvSpPr>
        <p:spPr>
          <a:xfrm>
            <a:off x="3302000" y="2032000"/>
            <a:ext cx="215900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B78B7-C81E-F8C8-9E1B-6F46826D4FB5}"/>
              </a:ext>
            </a:extLst>
          </p:cNvPr>
          <p:cNvSpPr txBox="1"/>
          <p:nvPr/>
        </p:nvSpPr>
        <p:spPr>
          <a:xfrm>
            <a:off x="3454400" y="2146300"/>
            <a:ext cx="1854200" cy="5245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POST /api/media/upload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E8CFA-B0CD-6E70-9F0C-7DE5A0247DE5}"/>
              </a:ext>
            </a:extLst>
          </p:cNvPr>
          <p:cNvSpPr txBox="1"/>
          <p:nvPr/>
        </p:nvSpPr>
        <p:spPr>
          <a:xfrm>
            <a:off x="3454400" y="2463800"/>
            <a:ext cx="1854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Multipart file stream sent to backend.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A34E61-0217-994F-B827-B290F0D7D123}"/>
              </a:ext>
            </a:extLst>
          </p:cNvPr>
          <p:cNvSpPr/>
          <p:nvPr/>
        </p:nvSpPr>
        <p:spPr>
          <a:xfrm>
            <a:off x="6121400" y="1841500"/>
            <a:ext cx="2413000" cy="14605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FFD3DB-9D9B-2FF4-D199-F120ABB9327B}"/>
              </a:ext>
            </a:extLst>
          </p:cNvPr>
          <p:cNvSpPr txBox="1"/>
          <p:nvPr/>
        </p:nvSpPr>
        <p:spPr>
          <a:xfrm>
            <a:off x="6273800" y="1955800"/>
            <a:ext cx="2108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Blob Storage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071E2-4F31-933E-BC73-8438F8569513}"/>
              </a:ext>
            </a:extLst>
          </p:cNvPr>
          <p:cNvSpPr txBox="1"/>
          <p:nvPr/>
        </p:nvSpPr>
        <p:spPr>
          <a:xfrm>
            <a:off x="6273800" y="2273300"/>
            <a:ext cx="21082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File stored as image/year/month/uuid.ext or video/year/month/uuid.ext.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5919AF-3773-5A4C-1D3F-8B732512E7CF}"/>
              </a:ext>
            </a:extLst>
          </p:cNvPr>
          <p:cNvSpPr/>
          <p:nvPr/>
        </p:nvSpPr>
        <p:spPr>
          <a:xfrm>
            <a:off x="9207500" y="1841500"/>
            <a:ext cx="2349500" cy="14605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16A3D6-C336-8E96-8A61-7773E7094345}"/>
              </a:ext>
            </a:extLst>
          </p:cNvPr>
          <p:cNvSpPr txBox="1"/>
          <p:nvPr/>
        </p:nvSpPr>
        <p:spPr>
          <a:xfrm>
            <a:off x="9359900" y="1955800"/>
            <a:ext cx="20447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MediaAsset row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9C0716-4008-E3F6-6373-DD9F54B21C2D}"/>
              </a:ext>
            </a:extLst>
          </p:cNvPr>
          <p:cNvSpPr txBox="1"/>
          <p:nvPr/>
        </p:nvSpPr>
        <p:spPr>
          <a:xfrm>
            <a:off x="9359900" y="2273300"/>
            <a:ext cx="20447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URL, blob name, type, original file name, size and content type saved to MySQL.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7583AA-2A07-F729-9AB8-797A94AE7DC9}"/>
              </a:ext>
            </a:extLst>
          </p:cNvPr>
          <p:cNvCxnSpPr/>
          <p:nvPr/>
        </p:nvCxnSpPr>
        <p:spPr>
          <a:xfrm>
            <a:off x="2755900" y="2603500"/>
            <a:ext cx="5461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D11B3A-12B7-6215-73D3-2F3C0EAE24D9}"/>
              </a:ext>
            </a:extLst>
          </p:cNvPr>
          <p:cNvCxnSpPr/>
          <p:nvPr/>
        </p:nvCxnSpPr>
        <p:spPr>
          <a:xfrm>
            <a:off x="5461000" y="2603500"/>
            <a:ext cx="660400" cy="0"/>
          </a:xfrm>
          <a:prstGeom prst="line">
            <a:avLst/>
          </a:prstGeom>
          <a:ln w="25400">
            <a:solidFill>
              <a:srgbClr val="16A3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5F14A8-CD62-1F85-C0CF-35ED44DADC39}"/>
              </a:ext>
            </a:extLst>
          </p:cNvPr>
          <p:cNvCxnSpPr/>
          <p:nvPr/>
        </p:nvCxnSpPr>
        <p:spPr>
          <a:xfrm>
            <a:off x="8534400" y="2603500"/>
            <a:ext cx="673100" cy="0"/>
          </a:xfrm>
          <a:prstGeom prst="line">
            <a:avLst/>
          </a:prstGeom>
          <a:ln w="25400">
            <a:solidFill>
              <a:srgbClr val="7C3A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8FE9F4-850C-8DA5-0C50-754BB528372D}"/>
              </a:ext>
            </a:extLst>
          </p:cNvPr>
          <p:cNvSpPr/>
          <p:nvPr/>
        </p:nvSpPr>
        <p:spPr>
          <a:xfrm>
            <a:off x="3302000" y="4318000"/>
            <a:ext cx="2159000" cy="10795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F4505-722F-EF66-F8EE-0F5CBE0B62FE}"/>
              </a:ext>
            </a:extLst>
          </p:cNvPr>
          <p:cNvSpPr txBox="1"/>
          <p:nvPr/>
        </p:nvSpPr>
        <p:spPr>
          <a:xfrm>
            <a:off x="3454400" y="4432300"/>
            <a:ext cx="1854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POST /api/posts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DCF6B-D3F9-CEC4-2625-437F6E49B2DA}"/>
              </a:ext>
            </a:extLst>
          </p:cNvPr>
          <p:cNvSpPr txBox="1"/>
          <p:nvPr/>
        </p:nvSpPr>
        <p:spPr>
          <a:xfrm>
            <a:off x="3454400" y="4749800"/>
            <a:ext cx="18542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Post record links media URL to creator and caption metadata.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6B65DD6-B966-1E31-E1BC-C109A2A948DF}"/>
              </a:ext>
            </a:extLst>
          </p:cNvPr>
          <p:cNvSpPr/>
          <p:nvPr/>
        </p:nvSpPr>
        <p:spPr>
          <a:xfrm>
            <a:off x="6121400" y="4318000"/>
            <a:ext cx="2413000" cy="10795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6C222F-5A1A-9007-95E9-61D52D0C105A}"/>
              </a:ext>
            </a:extLst>
          </p:cNvPr>
          <p:cNvSpPr txBox="1"/>
          <p:nvPr/>
        </p:nvSpPr>
        <p:spPr>
          <a:xfrm>
            <a:off x="6273800" y="4432300"/>
            <a:ext cx="2108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Consumer Feed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6AC37-DBE7-5E01-EE34-9DC715575BBF}"/>
              </a:ext>
            </a:extLst>
          </p:cNvPr>
          <p:cNvSpPr txBox="1"/>
          <p:nvPr/>
        </p:nvSpPr>
        <p:spPr>
          <a:xfrm>
            <a:off x="6273800" y="4749800"/>
            <a:ext cx="2108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Frontend reads post records and displays Blob URLs as media.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6A1259-6E4D-5F14-2C0D-CF4E617A4D8D}"/>
              </a:ext>
            </a:extLst>
          </p:cNvPr>
          <p:cNvCxnSpPr/>
          <p:nvPr/>
        </p:nvCxnSpPr>
        <p:spPr>
          <a:xfrm>
            <a:off x="5461000" y="4851400"/>
            <a:ext cx="660400" cy="0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512B031-E6B4-37F9-F707-B233466B1004}"/>
              </a:ext>
            </a:extLst>
          </p:cNvPr>
          <p:cNvSpPr txBox="1"/>
          <p:nvPr/>
        </p:nvSpPr>
        <p:spPr>
          <a:xfrm>
            <a:off x="889000" y="5943600"/>
            <a:ext cx="1041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 panose="020B0004020202020204" pitchFamily="34" charset="0"/>
              </a:rPr>
              <a:t>Scalability benefit: the backend does not serve large media files from local disk; Azure Blob Storage handles file delivery.</a:t>
            </a:r>
            <a:endParaRPr lang="en-GB" sz="16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E157BA-78B7-FAC9-65DD-452506E81649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6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7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697F8C-F6E9-79C2-9873-D350948EB8AB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100" b="1">
                <a:solidFill>
                  <a:srgbClr val="2563EB"/>
                </a:solidFill>
                <a:latin typeface="Aptos" panose="020B0004020202020204" pitchFamily="34" charset="0"/>
              </a:rPr>
              <a:t>Relational metadata + object 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F519D-2309-C389-C1FB-A94A3BC52419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Data and Storage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CE898-A511-5E5D-ECAF-6499D5FE7775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765C2B-F0A5-3C40-4B8F-3DB5C8725903}"/>
              </a:ext>
            </a:extLst>
          </p:cNvPr>
          <p:cNvSpPr/>
          <p:nvPr/>
        </p:nvSpPr>
        <p:spPr>
          <a:xfrm>
            <a:off x="609600" y="1778000"/>
            <a:ext cx="317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37694-346D-A00E-DA36-1510288FD1C2}"/>
              </a:ext>
            </a:extLst>
          </p:cNvPr>
          <p:cNvSpPr/>
          <p:nvPr/>
        </p:nvSpPr>
        <p:spPr>
          <a:xfrm>
            <a:off x="609600" y="1778000"/>
            <a:ext cx="88900" cy="1460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08D4D-6CFF-28A1-9773-83B4AD323B68}"/>
              </a:ext>
            </a:extLst>
          </p:cNvPr>
          <p:cNvSpPr txBox="1"/>
          <p:nvPr/>
        </p:nvSpPr>
        <p:spPr>
          <a:xfrm>
            <a:off x="825500" y="1943100"/>
            <a:ext cx="2832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E7274-1B61-A6F4-07ED-6A2D488EAFCF}"/>
              </a:ext>
            </a:extLst>
          </p:cNvPr>
          <p:cNvSpPr txBox="1"/>
          <p:nvPr/>
        </p:nvSpPr>
        <p:spPr>
          <a:xfrm>
            <a:off x="825500" y="2324100"/>
            <a:ext cx="2832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id, username, email, password hash, role. Supports CREATOR and CONSUMER experiences.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A637F9-09C8-0F71-BF59-59D6813354A7}"/>
              </a:ext>
            </a:extLst>
          </p:cNvPr>
          <p:cNvSpPr/>
          <p:nvPr/>
        </p:nvSpPr>
        <p:spPr>
          <a:xfrm>
            <a:off x="4508500" y="1778000"/>
            <a:ext cx="317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7C1E6C-EE27-23C7-0C60-A0E549A145DE}"/>
              </a:ext>
            </a:extLst>
          </p:cNvPr>
          <p:cNvSpPr/>
          <p:nvPr/>
        </p:nvSpPr>
        <p:spPr>
          <a:xfrm>
            <a:off x="4508500" y="1778000"/>
            <a:ext cx="88900" cy="1460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2735B6-2B74-E24F-3119-FBC75402609D}"/>
              </a:ext>
            </a:extLst>
          </p:cNvPr>
          <p:cNvSpPr txBox="1"/>
          <p:nvPr/>
        </p:nvSpPr>
        <p:spPr>
          <a:xfrm>
            <a:off x="4724400" y="1943100"/>
            <a:ext cx="2832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posts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805A4-9EE3-8E77-04C6-34CD3FE23D1F}"/>
              </a:ext>
            </a:extLst>
          </p:cNvPr>
          <p:cNvSpPr txBox="1"/>
          <p:nvPr/>
        </p:nvSpPr>
        <p:spPr>
          <a:xfrm>
            <a:off x="4724400" y="2324100"/>
            <a:ext cx="2832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creator id, creator username, title, caption, location, people tags, media URL and media type.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5FFDE6-4C12-E407-34C0-BD599CB4F2EA}"/>
              </a:ext>
            </a:extLst>
          </p:cNvPr>
          <p:cNvSpPr/>
          <p:nvPr/>
        </p:nvSpPr>
        <p:spPr>
          <a:xfrm>
            <a:off x="8407400" y="1778000"/>
            <a:ext cx="317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391CA-80D0-A9AD-4A5B-30DEEE158CC0}"/>
              </a:ext>
            </a:extLst>
          </p:cNvPr>
          <p:cNvSpPr/>
          <p:nvPr/>
        </p:nvSpPr>
        <p:spPr>
          <a:xfrm>
            <a:off x="8407400" y="1778000"/>
            <a:ext cx="88900" cy="1460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C1BE5-4890-AC74-7C97-02E3CE6E4EAA}"/>
              </a:ext>
            </a:extLst>
          </p:cNvPr>
          <p:cNvSpPr txBox="1"/>
          <p:nvPr/>
        </p:nvSpPr>
        <p:spPr>
          <a:xfrm>
            <a:off x="8623300" y="1943100"/>
            <a:ext cx="2832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media_assets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2FE99-0E70-9AB4-C66B-8C7E36F762E6}"/>
              </a:ext>
            </a:extLst>
          </p:cNvPr>
          <p:cNvSpPr txBox="1"/>
          <p:nvPr/>
        </p:nvSpPr>
        <p:spPr>
          <a:xfrm>
            <a:off x="8623300" y="2324100"/>
            <a:ext cx="2832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blob name, original filename, URL, type, content type, size bytes and created time.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BA0139-5B4A-6A8C-EB9B-D1913C8E5318}"/>
              </a:ext>
            </a:extLst>
          </p:cNvPr>
          <p:cNvSpPr/>
          <p:nvPr/>
        </p:nvSpPr>
        <p:spPr>
          <a:xfrm>
            <a:off x="609600" y="40005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3FD23E-5EBA-A571-B96E-6CDFFA7D2615}"/>
              </a:ext>
            </a:extLst>
          </p:cNvPr>
          <p:cNvSpPr/>
          <p:nvPr/>
        </p:nvSpPr>
        <p:spPr>
          <a:xfrm>
            <a:off x="609600" y="4000500"/>
            <a:ext cx="88900" cy="1333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CBD09-B45B-5446-8255-183D7AB2E95E}"/>
              </a:ext>
            </a:extLst>
          </p:cNvPr>
          <p:cNvSpPr txBox="1"/>
          <p:nvPr/>
        </p:nvSpPr>
        <p:spPr>
          <a:xfrm>
            <a:off x="825500" y="4165600"/>
            <a:ext cx="2832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comments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1BFB99-15A5-70AE-A424-9F22A59AFCB4}"/>
              </a:ext>
            </a:extLst>
          </p:cNvPr>
          <p:cNvSpPr txBox="1"/>
          <p:nvPr/>
        </p:nvSpPr>
        <p:spPr>
          <a:xfrm>
            <a:off x="825500" y="4546600"/>
            <a:ext cx="2832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Post/user relationship, comment text and sentiment-style label.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952310-F3FF-2D85-CF22-4DB5A641A93F}"/>
              </a:ext>
            </a:extLst>
          </p:cNvPr>
          <p:cNvSpPr/>
          <p:nvPr/>
        </p:nvSpPr>
        <p:spPr>
          <a:xfrm>
            <a:off x="4508500" y="40005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402D3F-1058-8E90-1950-A7B740EA579E}"/>
              </a:ext>
            </a:extLst>
          </p:cNvPr>
          <p:cNvSpPr/>
          <p:nvPr/>
        </p:nvSpPr>
        <p:spPr>
          <a:xfrm>
            <a:off x="4508500" y="4000500"/>
            <a:ext cx="88900" cy="1333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DBFA24-4ECB-8414-F836-742060EC3CD3}"/>
              </a:ext>
            </a:extLst>
          </p:cNvPr>
          <p:cNvSpPr txBox="1"/>
          <p:nvPr/>
        </p:nvSpPr>
        <p:spPr>
          <a:xfrm>
            <a:off x="4724400" y="4165600"/>
            <a:ext cx="2832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ratings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7F5563-EED7-697A-F47A-93814CC06805}"/>
              </a:ext>
            </a:extLst>
          </p:cNvPr>
          <p:cNvSpPr txBox="1"/>
          <p:nvPr/>
        </p:nvSpPr>
        <p:spPr>
          <a:xfrm>
            <a:off x="4724400" y="4546600"/>
            <a:ext cx="2832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Post/user rating values used to calculate engagement analytics.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F837B5-7D32-3705-36FC-7BF47CA17239}"/>
              </a:ext>
            </a:extLst>
          </p:cNvPr>
          <p:cNvSpPr/>
          <p:nvPr/>
        </p:nvSpPr>
        <p:spPr>
          <a:xfrm>
            <a:off x="8407400" y="4000500"/>
            <a:ext cx="3175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ED966B-0808-C0D0-6C92-ADFF8E7BF734}"/>
              </a:ext>
            </a:extLst>
          </p:cNvPr>
          <p:cNvSpPr/>
          <p:nvPr/>
        </p:nvSpPr>
        <p:spPr>
          <a:xfrm>
            <a:off x="8407400" y="4000500"/>
            <a:ext cx="88900" cy="13335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74B2ED-4862-C6BD-8A36-EF40FD99D742}"/>
              </a:ext>
            </a:extLst>
          </p:cNvPr>
          <p:cNvSpPr txBox="1"/>
          <p:nvPr/>
        </p:nvSpPr>
        <p:spPr>
          <a:xfrm>
            <a:off x="8623300" y="4165600"/>
            <a:ext cx="2832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ai 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7DF8AA-8D44-14BF-B1EE-D8E1788F5716}"/>
              </a:ext>
            </a:extLst>
          </p:cNvPr>
          <p:cNvSpPr txBox="1"/>
          <p:nvPr/>
        </p:nvSpPr>
        <p:spPr>
          <a:xfrm>
            <a:off x="8623300" y="4546600"/>
            <a:ext cx="2832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Generated on demand; AI matrix does not need to store sensitive data unless required later.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14E58E-2253-FD4B-8C0F-1D76EF77ADE2}"/>
              </a:ext>
            </a:extLst>
          </p:cNvPr>
          <p:cNvSpPr txBox="1"/>
          <p:nvPr/>
        </p:nvSpPr>
        <p:spPr>
          <a:xfrm>
            <a:off x="685800" y="5867400"/>
            <a:ext cx="1079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Database used: Azure MySQL Flexible Server / ai_media_db. Files used: Azure Blob Storage / media container.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6555B-FE80-070F-C3C8-B2566F5525D3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7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00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6E3BE7-4D7D-3765-45F4-02344CD52115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Build, package and release process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34193-2E9C-DA05-8591-AE846CC7D471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0F172A"/>
                </a:solidFill>
                <a:latin typeface="Aptos" panose="020B0004020202020204" pitchFamily="34" charset="0"/>
              </a:rPr>
              <a:t>CI/CD and Docker Deployment Architecture</a:t>
            </a:r>
            <a:endParaRPr lang="en-GB" sz="28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9678F-5327-F48B-547C-5545DA76B71F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190000-72CD-6BE0-3C1C-D54143211ACF}"/>
              </a:ext>
            </a:extLst>
          </p:cNvPr>
          <p:cNvSpPr/>
          <p:nvPr/>
        </p:nvSpPr>
        <p:spPr>
          <a:xfrm>
            <a:off x="635000" y="2006600"/>
            <a:ext cx="2286000" cy="1041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0074B-94B4-52FA-1B4C-031EFCB58351}"/>
              </a:ext>
            </a:extLst>
          </p:cNvPr>
          <p:cNvSpPr txBox="1"/>
          <p:nvPr/>
        </p:nvSpPr>
        <p:spPr>
          <a:xfrm>
            <a:off x="787400" y="2120900"/>
            <a:ext cx="1981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GitHub main branch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1853E-EECC-F3DF-0345-D0178B39E0D7}"/>
              </a:ext>
            </a:extLst>
          </p:cNvPr>
          <p:cNvSpPr txBox="1"/>
          <p:nvPr/>
        </p:nvSpPr>
        <p:spPr>
          <a:xfrm>
            <a:off x="787400" y="2438400"/>
            <a:ext cx="198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Source code and PowerPoint artefacts are versioned.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D14953-6A7D-3D16-B441-E7EB03F8CFCD}"/>
              </a:ext>
            </a:extLst>
          </p:cNvPr>
          <p:cNvSpPr/>
          <p:nvPr/>
        </p:nvSpPr>
        <p:spPr>
          <a:xfrm>
            <a:off x="3556000" y="2006600"/>
            <a:ext cx="2286000" cy="1041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C24A0-341E-6548-2D4B-DFADEB30C8CE}"/>
              </a:ext>
            </a:extLst>
          </p:cNvPr>
          <p:cNvSpPr txBox="1"/>
          <p:nvPr/>
        </p:nvSpPr>
        <p:spPr>
          <a:xfrm>
            <a:off x="3708400" y="2120900"/>
            <a:ext cx="1981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GitHub 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CE6EE-2281-C58B-565B-2D76E1988455}"/>
              </a:ext>
            </a:extLst>
          </p:cNvPr>
          <p:cNvSpPr txBox="1"/>
          <p:nvPr/>
        </p:nvSpPr>
        <p:spPr>
          <a:xfrm>
            <a:off x="3708400" y="2438400"/>
            <a:ext cx="1981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Runs Docker build, frontend build and Azure deployment.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282351-C0B1-6A50-42F4-DA2473017150}"/>
              </a:ext>
            </a:extLst>
          </p:cNvPr>
          <p:cNvSpPr/>
          <p:nvPr/>
        </p:nvSpPr>
        <p:spPr>
          <a:xfrm>
            <a:off x="6477000" y="2006600"/>
            <a:ext cx="2286000" cy="1041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792647-6552-2CFB-D9AE-8C5812A1B0B3}"/>
              </a:ext>
            </a:extLst>
          </p:cNvPr>
          <p:cNvSpPr txBox="1"/>
          <p:nvPr/>
        </p:nvSpPr>
        <p:spPr>
          <a:xfrm>
            <a:off x="6629400" y="2120900"/>
            <a:ext cx="1981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ACR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93FAD-6AB6-45AC-5AA1-0FD8452BABC2}"/>
              </a:ext>
            </a:extLst>
          </p:cNvPr>
          <p:cNvSpPr txBox="1"/>
          <p:nvPr/>
        </p:nvSpPr>
        <p:spPr>
          <a:xfrm>
            <a:off x="6629400" y="2438400"/>
            <a:ext cx="19812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Stores backend image: aimedia-single-backend:&lt;sha&gt; and latest.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499265-4F66-2DC2-00A6-7F4CD1383D14}"/>
              </a:ext>
            </a:extLst>
          </p:cNvPr>
          <p:cNvSpPr/>
          <p:nvPr/>
        </p:nvSpPr>
        <p:spPr>
          <a:xfrm>
            <a:off x="9398000" y="2006600"/>
            <a:ext cx="2159000" cy="10414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49C4C-656D-059D-AC40-B48BBFDB1406}"/>
              </a:ext>
            </a:extLst>
          </p:cNvPr>
          <p:cNvSpPr txBox="1"/>
          <p:nvPr/>
        </p:nvSpPr>
        <p:spPr>
          <a:xfrm>
            <a:off x="9550400" y="2120900"/>
            <a:ext cx="18542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400" b="1">
                <a:solidFill>
                  <a:srgbClr val="0F172A"/>
                </a:solidFill>
                <a:latin typeface="Aptos" panose="020B0004020202020204" pitchFamily="34" charset="0"/>
              </a:rPr>
              <a:t>Azure Web 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2EEA4-D16E-21F6-7B96-8CA13E5B3846}"/>
              </a:ext>
            </a:extLst>
          </p:cNvPr>
          <p:cNvSpPr txBox="1"/>
          <p:nvPr/>
        </p:nvSpPr>
        <p:spPr>
          <a:xfrm>
            <a:off x="9550400" y="2438400"/>
            <a:ext cx="18542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Pulls the container image and runs backend on port 8080.</a:t>
            </a:r>
            <a:endParaRPr lang="en-GB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3637CC-41A9-23E3-0E46-38CD9EB0B438}"/>
              </a:ext>
            </a:extLst>
          </p:cNvPr>
          <p:cNvCxnSpPr/>
          <p:nvPr/>
        </p:nvCxnSpPr>
        <p:spPr>
          <a:xfrm>
            <a:off x="2921000" y="2527300"/>
            <a:ext cx="6350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5CBACF-16A0-D94F-B0DB-CA192DBE5E85}"/>
              </a:ext>
            </a:extLst>
          </p:cNvPr>
          <p:cNvCxnSpPr/>
          <p:nvPr/>
        </p:nvCxnSpPr>
        <p:spPr>
          <a:xfrm>
            <a:off x="5842000" y="2527300"/>
            <a:ext cx="635000" cy="0"/>
          </a:xfrm>
          <a:prstGeom prst="line">
            <a:avLst/>
          </a:prstGeom>
          <a:ln w="25400">
            <a:solidFill>
              <a:srgbClr val="16A3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D0D1D7-FBC6-3378-66FC-955235D86128}"/>
              </a:ext>
            </a:extLst>
          </p:cNvPr>
          <p:cNvCxnSpPr/>
          <p:nvPr/>
        </p:nvCxnSpPr>
        <p:spPr>
          <a:xfrm>
            <a:off x="8763000" y="2527300"/>
            <a:ext cx="635000" cy="0"/>
          </a:xfrm>
          <a:prstGeom prst="line">
            <a:avLst/>
          </a:prstGeom>
          <a:ln w="25400">
            <a:solidFill>
              <a:srgbClr val="DC262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D0BD87C-58C2-BEF0-41B2-2E0A372AC910}"/>
              </a:ext>
            </a:extLst>
          </p:cNvPr>
          <p:cNvSpPr/>
          <p:nvPr/>
        </p:nvSpPr>
        <p:spPr>
          <a:xfrm>
            <a:off x="889000" y="4000500"/>
            <a:ext cx="4953000" cy="15875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9E1A33-5795-77B0-1D37-708BA6A48BD6}"/>
              </a:ext>
            </a:extLst>
          </p:cNvPr>
          <p:cNvSpPr txBox="1"/>
          <p:nvPr/>
        </p:nvSpPr>
        <p:spPr>
          <a:xfrm>
            <a:off x="1079500" y="4229100"/>
            <a:ext cx="457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GitHub Actions proof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F6BFB4-6D37-1FB6-DA27-0E50D859902A}"/>
              </a:ext>
            </a:extLst>
          </p:cNvPr>
          <p:cNvSpPr txBox="1"/>
          <p:nvPr/>
        </p:nvSpPr>
        <p:spPr>
          <a:xfrm>
            <a:off x="1079500" y="4610100"/>
            <a:ext cx="457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 the successful runs: Build and deploy single backend container + Build Docker images to ACR.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DF3AB2-A386-4242-6EE7-DF55DCB68A93}"/>
              </a:ext>
            </a:extLst>
          </p:cNvPr>
          <p:cNvSpPr/>
          <p:nvPr/>
        </p:nvSpPr>
        <p:spPr>
          <a:xfrm>
            <a:off x="6540500" y="4000500"/>
            <a:ext cx="4572000" cy="1587500"/>
          </a:xfrm>
          <a:prstGeom prst="rect">
            <a:avLst/>
          </a:prstGeom>
          <a:solidFill>
            <a:srgbClr val="F1F5F9"/>
          </a:solidFill>
          <a:ln w="25400">
            <a:solidFill>
              <a:srgbClr val="DC262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EDECB-4023-5145-9A93-31355D54E4DE}"/>
              </a:ext>
            </a:extLst>
          </p:cNvPr>
          <p:cNvSpPr txBox="1"/>
          <p:nvPr/>
        </p:nvSpPr>
        <p:spPr>
          <a:xfrm>
            <a:off x="6731000" y="4229100"/>
            <a:ext cx="419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ACR image proof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277D1-A152-4488-0132-5B6B4E510A07}"/>
              </a:ext>
            </a:extLst>
          </p:cNvPr>
          <p:cNvSpPr txBox="1"/>
          <p:nvPr/>
        </p:nvSpPr>
        <p:spPr>
          <a:xfrm>
            <a:off x="6731000" y="4610100"/>
            <a:ext cx="419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 ACR repository tags showing aimedia-single-backend and current SHA/latest tags.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200B7E-B726-70B9-5B25-A0C5A62A801A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8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61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211BE-6E07-C89A-CA37-57FD8558CCA6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What scales now and what scales later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ACA43-C53B-77F6-B1B5-CB9D93ED4CE2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Scalability Assessment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35ACF-3D5D-75CB-9D35-816AE4261FCA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225EB1-3D5F-0109-F9DD-8228CFCF277A}"/>
              </a:ext>
            </a:extLst>
          </p:cNvPr>
          <p:cNvSpPr/>
          <p:nvPr/>
        </p:nvSpPr>
        <p:spPr>
          <a:xfrm>
            <a:off x="660400" y="1778000"/>
            <a:ext cx="4889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BFD08-1951-4029-EFE6-97D8CCD97B01}"/>
              </a:ext>
            </a:extLst>
          </p:cNvPr>
          <p:cNvSpPr/>
          <p:nvPr/>
        </p:nvSpPr>
        <p:spPr>
          <a:xfrm>
            <a:off x="660400" y="1778000"/>
            <a:ext cx="88900" cy="1651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E09B5-0D99-C3B1-0DE8-B3D306AABB8B}"/>
              </a:ext>
            </a:extLst>
          </p:cNvPr>
          <p:cNvSpPr txBox="1"/>
          <p:nvPr/>
        </p:nvSpPr>
        <p:spPr>
          <a:xfrm>
            <a:off x="876300" y="1943100"/>
            <a:ext cx="4546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Already scalable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E6ECB-F24D-271B-776D-183BFF16C826}"/>
              </a:ext>
            </a:extLst>
          </p:cNvPr>
          <p:cNvSpPr txBox="1"/>
          <p:nvPr/>
        </p:nvSpPr>
        <p:spPr>
          <a:xfrm>
            <a:off x="876300" y="2324100"/>
            <a:ext cx="4546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Static hosting, Blob Storage, MySQL Flexible Server, Docker image, ACR and CI/CD are managed cloud-native building blocks.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A37D00-3ADC-046A-0E2A-601B384497D5}"/>
              </a:ext>
            </a:extLst>
          </p:cNvPr>
          <p:cNvSpPr/>
          <p:nvPr/>
        </p:nvSpPr>
        <p:spPr>
          <a:xfrm>
            <a:off x="6477000" y="1778000"/>
            <a:ext cx="4889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A39E16-8E09-CD51-1CB3-F85C32529759}"/>
              </a:ext>
            </a:extLst>
          </p:cNvPr>
          <p:cNvSpPr/>
          <p:nvPr/>
        </p:nvSpPr>
        <p:spPr>
          <a:xfrm>
            <a:off x="6477000" y="1778000"/>
            <a:ext cx="88900" cy="1651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F2170-10CA-E238-1C67-636F83F1EF57}"/>
              </a:ext>
            </a:extLst>
          </p:cNvPr>
          <p:cNvSpPr txBox="1"/>
          <p:nvPr/>
        </p:nvSpPr>
        <p:spPr>
          <a:xfrm>
            <a:off x="6692900" y="1943100"/>
            <a:ext cx="4546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Cost-aware live choice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0F123-6F1D-ADA1-B796-CA550DA0BFB7}"/>
              </a:ext>
            </a:extLst>
          </p:cNvPr>
          <p:cNvSpPr txBox="1"/>
          <p:nvPr/>
        </p:nvSpPr>
        <p:spPr>
          <a:xfrm>
            <a:off x="6692900" y="2324100"/>
            <a:ext cx="4546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Current backend runs as one container on Linux B1 App Service because the project budget avoided higher tiers.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7272FC-32D4-0D67-0DBC-9EE1C1D3C846}"/>
              </a:ext>
            </a:extLst>
          </p:cNvPr>
          <p:cNvSpPr/>
          <p:nvPr/>
        </p:nvSpPr>
        <p:spPr>
          <a:xfrm>
            <a:off x="660400" y="4064000"/>
            <a:ext cx="4889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A7EDFC-9D25-B9EC-D1AA-305872017A24}"/>
              </a:ext>
            </a:extLst>
          </p:cNvPr>
          <p:cNvSpPr/>
          <p:nvPr/>
        </p:nvSpPr>
        <p:spPr>
          <a:xfrm>
            <a:off x="660400" y="4064000"/>
            <a:ext cx="88900" cy="1651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656D53-951D-DDFE-3343-AAD0BE7E2DF8}"/>
              </a:ext>
            </a:extLst>
          </p:cNvPr>
          <p:cNvSpPr txBox="1"/>
          <p:nvPr/>
        </p:nvSpPr>
        <p:spPr>
          <a:xfrm>
            <a:off x="876300" y="4229100"/>
            <a:ext cx="4546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Performance reasoning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FCC689-C73D-8159-4E1B-AF2FA515AE2E}"/>
              </a:ext>
            </a:extLst>
          </p:cNvPr>
          <p:cNvSpPr txBox="1"/>
          <p:nvPr/>
        </p:nvSpPr>
        <p:spPr>
          <a:xfrm>
            <a:off x="876300" y="4610100"/>
            <a:ext cx="4546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Large files are offloaded to Blob Storage. Backend manages metadata and API coordination rather than streaming all media itself.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B1A658-94B5-8023-ACA5-C4CCB3B92A31}"/>
              </a:ext>
            </a:extLst>
          </p:cNvPr>
          <p:cNvSpPr/>
          <p:nvPr/>
        </p:nvSpPr>
        <p:spPr>
          <a:xfrm>
            <a:off x="6477000" y="4064000"/>
            <a:ext cx="48895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ACA63E-2240-BB03-38A0-DDD6B7A3BB4C}"/>
              </a:ext>
            </a:extLst>
          </p:cNvPr>
          <p:cNvSpPr/>
          <p:nvPr/>
        </p:nvSpPr>
        <p:spPr>
          <a:xfrm>
            <a:off x="6477000" y="4064000"/>
            <a:ext cx="88900" cy="1651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EE6A90-911C-F2AA-0CCE-1DF0733262DF}"/>
              </a:ext>
            </a:extLst>
          </p:cNvPr>
          <p:cNvSpPr txBox="1"/>
          <p:nvPr/>
        </p:nvSpPr>
        <p:spPr>
          <a:xfrm>
            <a:off x="6692900" y="4229100"/>
            <a:ext cx="45466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Scale-out roadmap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1EEA77-5ECB-C66B-1F0D-744865236D75}"/>
              </a:ext>
            </a:extLst>
          </p:cNvPr>
          <p:cNvSpPr txBox="1"/>
          <p:nvPr/>
        </p:nvSpPr>
        <p:spPr>
          <a:xfrm>
            <a:off x="6692900" y="4610100"/>
            <a:ext cx="4546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Move the same Docker image to Azure Container Apps, add Front Door/CDN and Redis cache, then autoscale replicas on HTTP load.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8A7D6-DB30-DF63-C671-1FEA30F95BC5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9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86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52BCBE-61F3-7DEC-20DB-8F877E511A9B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Features aligned to assessment criteria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579C3-30FA-6507-C02F-355A9B3E2577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0F172A"/>
                </a:solidFill>
                <a:latin typeface="Aptos" panose="020B0004020202020204" pitchFamily="34" charset="0"/>
              </a:rPr>
              <a:t>Advanced Features and AI Integration</a:t>
            </a:r>
            <a:endParaRPr lang="en-GB" sz="28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F9234-FD19-EE59-F06F-2094EA51B194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10D38C-72EE-B8D7-C6C6-5D17C58B7A2B}"/>
              </a:ext>
            </a:extLst>
          </p:cNvPr>
          <p:cNvSpPr/>
          <p:nvPr/>
        </p:nvSpPr>
        <p:spPr>
          <a:xfrm>
            <a:off x="609600" y="1778000"/>
            <a:ext cx="3302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4F453-B202-91EA-7598-760203900AC2}"/>
              </a:ext>
            </a:extLst>
          </p:cNvPr>
          <p:cNvSpPr/>
          <p:nvPr/>
        </p:nvSpPr>
        <p:spPr>
          <a:xfrm>
            <a:off x="609600" y="1778000"/>
            <a:ext cx="88900" cy="1651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4BDE7-CF48-60D6-9080-63961648803F}"/>
              </a:ext>
            </a:extLst>
          </p:cNvPr>
          <p:cNvSpPr txBox="1"/>
          <p:nvPr/>
        </p:nvSpPr>
        <p:spPr>
          <a:xfrm>
            <a:off x="825500" y="1943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AI Content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5F66B-5003-9EDB-0C2C-AA92805FBFAC}"/>
              </a:ext>
            </a:extLst>
          </p:cNvPr>
          <p:cNvSpPr txBox="1"/>
          <p:nvPr/>
        </p:nvSpPr>
        <p:spPr>
          <a:xfrm>
            <a:off x="825500" y="2324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Generates caption, hashtags, alt text, hook, best time to post and safety note for creator content.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6FC1CC-5734-8372-294C-947919BB2412}"/>
              </a:ext>
            </a:extLst>
          </p:cNvPr>
          <p:cNvSpPr/>
          <p:nvPr/>
        </p:nvSpPr>
        <p:spPr>
          <a:xfrm>
            <a:off x="4445000" y="1778000"/>
            <a:ext cx="3302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68B440-9F23-D402-AB19-7B5E68D431BC}"/>
              </a:ext>
            </a:extLst>
          </p:cNvPr>
          <p:cNvSpPr/>
          <p:nvPr/>
        </p:nvSpPr>
        <p:spPr>
          <a:xfrm>
            <a:off x="4445000" y="1778000"/>
            <a:ext cx="88900" cy="1651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33FE6-CA8B-BCE5-FF3B-65F1627969BD}"/>
              </a:ext>
            </a:extLst>
          </p:cNvPr>
          <p:cNvSpPr txBox="1"/>
          <p:nvPr/>
        </p:nvSpPr>
        <p:spPr>
          <a:xfrm>
            <a:off x="4660900" y="1943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AI Suggestion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14461-8262-71E7-A8AD-E08F88629B75}"/>
              </a:ext>
            </a:extLst>
          </p:cNvPr>
          <p:cNvSpPr txBox="1"/>
          <p:nvPr/>
        </p:nvSpPr>
        <p:spPr>
          <a:xfrm>
            <a:off x="4660900" y="2324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Scores title, caption, tags, audience context, media readiness and safety, then returns next actions.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D47D2A-AF40-E845-9527-DAE39136B6C4}"/>
              </a:ext>
            </a:extLst>
          </p:cNvPr>
          <p:cNvSpPr/>
          <p:nvPr/>
        </p:nvSpPr>
        <p:spPr>
          <a:xfrm>
            <a:off x="8280400" y="1778000"/>
            <a:ext cx="3302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E71F1-0F6B-8563-5127-0F372DA23DD6}"/>
              </a:ext>
            </a:extLst>
          </p:cNvPr>
          <p:cNvSpPr/>
          <p:nvPr/>
        </p:nvSpPr>
        <p:spPr>
          <a:xfrm>
            <a:off x="8280400" y="1778000"/>
            <a:ext cx="88900" cy="1651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023483-D23E-ED6C-9D8F-28DC38A9AE8C}"/>
              </a:ext>
            </a:extLst>
          </p:cNvPr>
          <p:cNvSpPr txBox="1"/>
          <p:nvPr/>
        </p:nvSpPr>
        <p:spPr>
          <a:xfrm>
            <a:off x="8496300" y="1943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Analytics + interactions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364-0351-A39C-D5D9-A20E5EB4AADB}"/>
              </a:ext>
            </a:extLst>
          </p:cNvPr>
          <p:cNvSpPr txBox="1"/>
          <p:nvPr/>
        </p:nvSpPr>
        <p:spPr>
          <a:xfrm>
            <a:off x="8496300" y="2324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Comments, ratings and analytics support creator insight and consumer engagement.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78477C-CBC1-1F11-8CAF-5BD2624EA94C}"/>
              </a:ext>
            </a:extLst>
          </p:cNvPr>
          <p:cNvSpPr/>
          <p:nvPr/>
        </p:nvSpPr>
        <p:spPr>
          <a:xfrm>
            <a:off x="609600" y="4064000"/>
            <a:ext cx="3302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48E1C9-E92A-971B-D36A-896E421EB718}"/>
              </a:ext>
            </a:extLst>
          </p:cNvPr>
          <p:cNvSpPr/>
          <p:nvPr/>
        </p:nvSpPr>
        <p:spPr>
          <a:xfrm>
            <a:off x="609600" y="4064000"/>
            <a:ext cx="88900" cy="1460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9048D-8035-3E9A-C563-F9F3A601B8CB}"/>
              </a:ext>
            </a:extLst>
          </p:cNvPr>
          <p:cNvSpPr txBox="1"/>
          <p:nvPr/>
        </p:nvSpPr>
        <p:spPr>
          <a:xfrm>
            <a:off x="825500" y="4229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Identity/roles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EC2B87-19E5-6D81-6A24-3FC309DD8C81}"/>
              </a:ext>
            </a:extLst>
          </p:cNvPr>
          <p:cNvSpPr txBox="1"/>
          <p:nvPr/>
        </p:nvSpPr>
        <p:spPr>
          <a:xfrm>
            <a:off x="825500" y="4610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JWT-based login/register and role-specific frontend routing support creator and consumer separation.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26AB9F-0119-CEB3-1B43-69573AD2DCFF}"/>
              </a:ext>
            </a:extLst>
          </p:cNvPr>
          <p:cNvSpPr/>
          <p:nvPr/>
        </p:nvSpPr>
        <p:spPr>
          <a:xfrm>
            <a:off x="4445000" y="4064000"/>
            <a:ext cx="3302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4EF2BB-A901-717B-5F3F-7C96D6E6F9AD}"/>
              </a:ext>
            </a:extLst>
          </p:cNvPr>
          <p:cNvSpPr/>
          <p:nvPr/>
        </p:nvSpPr>
        <p:spPr>
          <a:xfrm>
            <a:off x="4445000" y="4064000"/>
            <a:ext cx="88900" cy="14605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668B85-6B1E-F9A9-E334-6F8BA3E52226}"/>
              </a:ext>
            </a:extLst>
          </p:cNvPr>
          <p:cNvSpPr txBox="1"/>
          <p:nvPr/>
        </p:nvSpPr>
        <p:spPr>
          <a:xfrm>
            <a:off x="4660900" y="4229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CI/CD pipeline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DD84C7-93D7-D3DE-CE99-1C1A08833B99}"/>
              </a:ext>
            </a:extLst>
          </p:cNvPr>
          <p:cNvSpPr txBox="1"/>
          <p:nvPr/>
        </p:nvSpPr>
        <p:spPr>
          <a:xfrm>
            <a:off x="4660900" y="4610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GitHub Actions demonstrates automated build, packaging, deployment and repeatable release management.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766373-262A-6886-604E-4B33A16ECCA7}"/>
              </a:ext>
            </a:extLst>
          </p:cNvPr>
          <p:cNvSpPr/>
          <p:nvPr/>
        </p:nvSpPr>
        <p:spPr>
          <a:xfrm>
            <a:off x="8280400" y="4064000"/>
            <a:ext cx="3302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782533-7A2C-F0D0-14D5-75FA62F52AB0}"/>
              </a:ext>
            </a:extLst>
          </p:cNvPr>
          <p:cNvSpPr/>
          <p:nvPr/>
        </p:nvSpPr>
        <p:spPr>
          <a:xfrm>
            <a:off x="8280400" y="4064000"/>
            <a:ext cx="88900" cy="1460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8909B2-4FD3-EDBE-C1DB-CF7831DBAE72}"/>
              </a:ext>
            </a:extLst>
          </p:cNvPr>
          <p:cNvSpPr txBox="1"/>
          <p:nvPr/>
        </p:nvSpPr>
        <p:spPr>
          <a:xfrm>
            <a:off x="8496300" y="4229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Future cognitive services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383342-0268-FF49-0AAA-091992DE404C}"/>
              </a:ext>
            </a:extLst>
          </p:cNvPr>
          <p:cNvSpPr txBox="1"/>
          <p:nvPr/>
        </p:nvSpPr>
        <p:spPr>
          <a:xfrm>
            <a:off x="8496300" y="4610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Azure AI Vision/OpenAI can be integrated later for real image moderation, captions and video analysis.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008B44-D23A-1134-50C0-28E2EC407EFC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10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22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9E1B9-DAF9-CC45-A1FB-26A032C8ECF9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How the deployed system is managed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A84C3-3E02-A758-F0AD-8735E93D9D1A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Security and Operational Considerations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2EE7ED-11A7-69E9-4A94-CFBFF70505D8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8E2A7-D614-1061-1ED3-A536B3B41A5A}"/>
              </a:ext>
            </a:extLst>
          </p:cNvPr>
          <p:cNvSpPr txBox="1"/>
          <p:nvPr/>
        </p:nvSpPr>
        <p:spPr>
          <a:xfrm>
            <a:off x="736600" y="1841500"/>
            <a:ext cx="6604000" cy="30675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Secrets such as database password, storage connection string and ACR credentials are stored in Azure App Settings or GitHub Secrets.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MySQL is accessed privately through VNet and private DNS rather than relying on broad public access.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JWT role claims enable creator/consumer separation at the application level.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Actuator health endpoint supports operational checks and App Service warm-up.</a:t>
            </a:r>
          </a:p>
          <a:p>
            <a:pPr>
              <a:spcAft>
                <a:spcPts val="700"/>
              </a:spcAft>
            </a:pPr>
            <a:r>
              <a:rPr lang="en-US" sz="1700">
                <a:solidFill>
                  <a:srgbClr val="1E293B"/>
                </a:solidFill>
                <a:latin typeface="Aptos" panose="020B0004020202020204" pitchFamily="34" charset="0"/>
              </a:rPr>
              <a:t>• The deployment uses SHA-tagged Docker images, making releases traceable to Git commits.</a:t>
            </a:r>
            <a:endParaRPr lang="en-GB" sz="17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7A2E2-C5D0-5D59-7E5D-A4937E96F255}"/>
              </a:ext>
            </a:extLst>
          </p:cNvPr>
          <p:cNvSpPr/>
          <p:nvPr/>
        </p:nvSpPr>
        <p:spPr>
          <a:xfrm>
            <a:off x="7937500" y="1968500"/>
            <a:ext cx="3175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DC262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45F09-43E7-757A-5DB3-F1FFA561D19D}"/>
              </a:ext>
            </a:extLst>
          </p:cNvPr>
          <p:cNvSpPr txBox="1"/>
          <p:nvPr/>
        </p:nvSpPr>
        <p:spPr>
          <a:xfrm>
            <a:off x="8128000" y="2197100"/>
            <a:ext cx="279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Azure App Settings proof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98459-0AE6-CB45-B920-579218CB50F1}"/>
              </a:ext>
            </a:extLst>
          </p:cNvPr>
          <p:cNvSpPr txBox="1"/>
          <p:nvPr/>
        </p:nvSpPr>
        <p:spPr>
          <a:xfrm>
            <a:off x="8128000" y="2578100"/>
            <a:ext cx="2794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 settings names only. Do not expose secret values in submission screenshots.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51149-B91A-2D06-BFA0-FD816E5E695C}"/>
              </a:ext>
            </a:extLst>
          </p:cNvPr>
          <p:cNvSpPr/>
          <p:nvPr/>
        </p:nvSpPr>
        <p:spPr>
          <a:xfrm>
            <a:off x="7937500" y="4000500"/>
            <a:ext cx="3175000" cy="152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0764D-3B62-9A60-189C-FC5F1B19F02E}"/>
              </a:ext>
            </a:extLst>
          </p:cNvPr>
          <p:cNvSpPr txBox="1"/>
          <p:nvPr/>
        </p:nvSpPr>
        <p:spPr>
          <a:xfrm>
            <a:off x="8128000" y="4229100"/>
            <a:ext cx="279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Health endpoint proof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9A6FF-C6B4-AA17-B9BF-A78442DB71F6}"/>
              </a:ext>
            </a:extLst>
          </p:cNvPr>
          <p:cNvSpPr txBox="1"/>
          <p:nvPr/>
        </p:nvSpPr>
        <p:spPr>
          <a:xfrm>
            <a:off x="8128000" y="4610100"/>
            <a:ext cx="279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Screenshot /actuator/health returning status UP.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E347B8-369B-2F16-5FDF-1A7DC7DA95BA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11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711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D3832-ABE3-5A80-008A-954FFF94D398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Screenshots to add before submission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213DB-36B4-EF39-1B8E-7503C3937179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Testing and Evidence Checklist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279C06-BBBC-81D0-DB66-744895355FB6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2CD9C8-972C-E95E-9CA6-AB2C94395FBD}"/>
              </a:ext>
            </a:extLst>
          </p:cNvPr>
          <p:cNvSpPr/>
          <p:nvPr/>
        </p:nvSpPr>
        <p:spPr>
          <a:xfrm>
            <a:off x="571500" y="1714500"/>
            <a:ext cx="3302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180FBE-6F51-2519-656F-114DC6BE2B08}"/>
              </a:ext>
            </a:extLst>
          </p:cNvPr>
          <p:cNvSpPr/>
          <p:nvPr/>
        </p:nvSpPr>
        <p:spPr>
          <a:xfrm>
            <a:off x="571500" y="1714500"/>
            <a:ext cx="88900" cy="1206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41AA04-0A4A-62B3-19AE-883BD51994BC}"/>
              </a:ext>
            </a:extLst>
          </p:cNvPr>
          <p:cNvSpPr txBox="1"/>
          <p:nvPr/>
        </p:nvSpPr>
        <p:spPr>
          <a:xfrm>
            <a:off x="787400" y="18796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Live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482E6-1D6B-FE6B-7C79-76AF7DF9E4F3}"/>
              </a:ext>
            </a:extLst>
          </p:cNvPr>
          <p:cNvSpPr txBox="1"/>
          <p:nvPr/>
        </p:nvSpPr>
        <p:spPr>
          <a:xfrm>
            <a:off x="787400" y="22606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Frontend URL opens with HTTP 200 and displays the AI Media interface.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3BB550-01E7-D51E-EEE5-56E20CA328D7}"/>
              </a:ext>
            </a:extLst>
          </p:cNvPr>
          <p:cNvSpPr/>
          <p:nvPr/>
        </p:nvSpPr>
        <p:spPr>
          <a:xfrm>
            <a:off x="4445000" y="1714500"/>
            <a:ext cx="3302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2772B1-C044-A101-A88C-AE0C661C7DD1}"/>
              </a:ext>
            </a:extLst>
          </p:cNvPr>
          <p:cNvSpPr/>
          <p:nvPr/>
        </p:nvSpPr>
        <p:spPr>
          <a:xfrm>
            <a:off x="4445000" y="1714500"/>
            <a:ext cx="88900" cy="1206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F3D142-544E-1E64-E0AE-353D71BDDEBA}"/>
              </a:ext>
            </a:extLst>
          </p:cNvPr>
          <p:cNvSpPr txBox="1"/>
          <p:nvPr/>
        </p:nvSpPr>
        <p:spPr>
          <a:xfrm>
            <a:off x="4660900" y="18796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Backend health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3827C-8F53-BE05-BE28-5523F25144BD}"/>
              </a:ext>
            </a:extLst>
          </p:cNvPr>
          <p:cNvSpPr txBox="1"/>
          <p:nvPr/>
        </p:nvSpPr>
        <p:spPr>
          <a:xfrm>
            <a:off x="4660900" y="2260600"/>
            <a:ext cx="29591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/actuator/health returns 200 OK.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8BBF12-6DBF-2982-671C-ABAFB1B10FE1}"/>
              </a:ext>
            </a:extLst>
          </p:cNvPr>
          <p:cNvSpPr/>
          <p:nvPr/>
        </p:nvSpPr>
        <p:spPr>
          <a:xfrm>
            <a:off x="8318500" y="1714500"/>
            <a:ext cx="3302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0D7D33-E601-B0A2-4715-FA0A4E3251AD}"/>
              </a:ext>
            </a:extLst>
          </p:cNvPr>
          <p:cNvSpPr/>
          <p:nvPr/>
        </p:nvSpPr>
        <p:spPr>
          <a:xfrm>
            <a:off x="8318500" y="1714500"/>
            <a:ext cx="88900" cy="1206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1D03FC-6142-27DD-52AD-A310DC274CE2}"/>
              </a:ext>
            </a:extLst>
          </p:cNvPr>
          <p:cNvSpPr txBox="1"/>
          <p:nvPr/>
        </p:nvSpPr>
        <p:spPr>
          <a:xfrm>
            <a:off x="8534400" y="18796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Auth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940B50-BD15-A72B-F125-B838C954637E}"/>
              </a:ext>
            </a:extLst>
          </p:cNvPr>
          <p:cNvSpPr txBox="1"/>
          <p:nvPr/>
        </p:nvSpPr>
        <p:spPr>
          <a:xfrm>
            <a:off x="8534400" y="22606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Register/login creates a MySQL user record and returns app user details/token.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D2D385-960F-6585-E06B-014E985D23D9}"/>
              </a:ext>
            </a:extLst>
          </p:cNvPr>
          <p:cNvSpPr/>
          <p:nvPr/>
        </p:nvSpPr>
        <p:spPr>
          <a:xfrm>
            <a:off x="571500" y="3429000"/>
            <a:ext cx="3302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B05ED-FD15-5346-D10A-D2988D38BEEB}"/>
              </a:ext>
            </a:extLst>
          </p:cNvPr>
          <p:cNvSpPr/>
          <p:nvPr/>
        </p:nvSpPr>
        <p:spPr>
          <a:xfrm>
            <a:off x="571500" y="3429000"/>
            <a:ext cx="88900" cy="1206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2D294-8ECB-CEE4-874F-8AF74C896F78}"/>
              </a:ext>
            </a:extLst>
          </p:cNvPr>
          <p:cNvSpPr txBox="1"/>
          <p:nvPr/>
        </p:nvSpPr>
        <p:spPr>
          <a:xfrm>
            <a:off x="787400" y="3594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Upload test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76358-2CF5-3D1C-D115-DAD6CD97E3A5}"/>
              </a:ext>
            </a:extLst>
          </p:cNvPr>
          <p:cNvSpPr txBox="1"/>
          <p:nvPr/>
        </p:nvSpPr>
        <p:spPr>
          <a:xfrm>
            <a:off x="787400" y="39751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Media upload returns Blob URL and creates media metadata row.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741193-5B97-C9CB-DB8F-A01DED1BD824}"/>
              </a:ext>
            </a:extLst>
          </p:cNvPr>
          <p:cNvSpPr/>
          <p:nvPr/>
        </p:nvSpPr>
        <p:spPr>
          <a:xfrm>
            <a:off x="4445000" y="3429000"/>
            <a:ext cx="3302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D0D528-53E9-EE11-B79A-0864557D798D}"/>
              </a:ext>
            </a:extLst>
          </p:cNvPr>
          <p:cNvSpPr/>
          <p:nvPr/>
        </p:nvSpPr>
        <p:spPr>
          <a:xfrm>
            <a:off x="4445000" y="3429000"/>
            <a:ext cx="88900" cy="1206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218859-41EC-A443-EA5F-4A2034A3E667}"/>
              </a:ext>
            </a:extLst>
          </p:cNvPr>
          <p:cNvSpPr txBox="1"/>
          <p:nvPr/>
        </p:nvSpPr>
        <p:spPr>
          <a:xfrm>
            <a:off x="4660900" y="3594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AI test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7F9EA2-E364-E637-D051-C2A9C4218FA1}"/>
              </a:ext>
            </a:extLst>
          </p:cNvPr>
          <p:cNvSpPr txBox="1"/>
          <p:nvPr/>
        </p:nvSpPr>
        <p:spPr>
          <a:xfrm>
            <a:off x="4660900" y="3975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200">
                <a:solidFill>
                  <a:srgbClr val="64748B"/>
                </a:solidFill>
                <a:latin typeface="Aptos" panose="020B0004020202020204" pitchFamily="34" charset="0"/>
              </a:rPr>
              <a:t>/api/ai/content-plan and /api/ai/suggestion-matrix return JSON recommendations.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6A448A7-D119-5BB1-956F-EAB88CC55B7C}"/>
              </a:ext>
            </a:extLst>
          </p:cNvPr>
          <p:cNvSpPr/>
          <p:nvPr/>
        </p:nvSpPr>
        <p:spPr>
          <a:xfrm>
            <a:off x="8318500" y="3429000"/>
            <a:ext cx="3302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02D680-722E-5F77-8003-AA9B0B0B4DAA}"/>
              </a:ext>
            </a:extLst>
          </p:cNvPr>
          <p:cNvSpPr/>
          <p:nvPr/>
        </p:nvSpPr>
        <p:spPr>
          <a:xfrm>
            <a:off x="8318500" y="3429000"/>
            <a:ext cx="88900" cy="12065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EFAAE3-53E5-EB94-555E-D7CE0D80978D}"/>
              </a:ext>
            </a:extLst>
          </p:cNvPr>
          <p:cNvSpPr txBox="1"/>
          <p:nvPr/>
        </p:nvSpPr>
        <p:spPr>
          <a:xfrm>
            <a:off x="8534400" y="3594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CI/CD test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2FE631-C51C-D659-69F3-74603A3AEE94}"/>
              </a:ext>
            </a:extLst>
          </p:cNvPr>
          <p:cNvSpPr txBox="1"/>
          <p:nvPr/>
        </p:nvSpPr>
        <p:spPr>
          <a:xfrm>
            <a:off x="8534400" y="39751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GitHub Actions run succeeds and deploys new Docker image/frontend bundle.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AA9A3D-7149-3EA6-1390-66B11616AF82}"/>
              </a:ext>
            </a:extLst>
          </p:cNvPr>
          <p:cNvSpPr txBox="1"/>
          <p:nvPr/>
        </p:nvSpPr>
        <p:spPr>
          <a:xfrm>
            <a:off x="698500" y="5461000"/>
            <a:ext cx="106045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700" b="1">
                <a:solidFill>
                  <a:srgbClr val="0F172A"/>
                </a:solidFill>
                <a:latin typeface="Aptos" panose="020B0004020202020204" pitchFamily="34" charset="0"/>
              </a:rPr>
              <a:t>Recommended proof screenshots: Azure Resource Group, Web App container, ACR tags, Blob media container, MySQL database list, GitHub Actions success, live app, health endpoint.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75EB5D-0152-CAA8-FD26-4401DF2E86F9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12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367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24D44-44CB-BBC7-86E1-CE1ECB4BE2C9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Critical evaluation for higher marks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500A2-5CD6-0C40-F6C3-31B21F14898F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Limitations and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7A0512-7731-3688-562B-CDBFDD565918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481F3D-64E5-A7D5-86A0-231A8C496012}"/>
              </a:ext>
            </a:extLst>
          </p:cNvPr>
          <p:cNvSpPr/>
          <p:nvPr/>
        </p:nvSpPr>
        <p:spPr>
          <a:xfrm>
            <a:off x="609600" y="1778000"/>
            <a:ext cx="3302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2C994-EE3F-31F1-C073-633F00E0A21C}"/>
              </a:ext>
            </a:extLst>
          </p:cNvPr>
          <p:cNvSpPr/>
          <p:nvPr/>
        </p:nvSpPr>
        <p:spPr>
          <a:xfrm>
            <a:off x="609600" y="1778000"/>
            <a:ext cx="88900" cy="15875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75743-D43E-1BFD-DF20-A4BB06E51FC0}"/>
              </a:ext>
            </a:extLst>
          </p:cNvPr>
          <p:cNvSpPr txBox="1"/>
          <p:nvPr/>
        </p:nvSpPr>
        <p:spPr>
          <a:xfrm>
            <a:off x="825500" y="1943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Current limitation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3A1BA-CAE1-5C11-F760-03B863E328D4}"/>
              </a:ext>
            </a:extLst>
          </p:cNvPr>
          <p:cNvSpPr txBox="1"/>
          <p:nvPr/>
        </p:nvSpPr>
        <p:spPr>
          <a:xfrm>
            <a:off x="825500" y="2324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Single B1 backend instance is affordable but not full autoscaling; warm-up can be slow after deployment.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2F2D78-4089-798B-DBFE-197F6F15709D}"/>
              </a:ext>
            </a:extLst>
          </p:cNvPr>
          <p:cNvSpPr/>
          <p:nvPr/>
        </p:nvSpPr>
        <p:spPr>
          <a:xfrm>
            <a:off x="4445000" y="1778000"/>
            <a:ext cx="3302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9AA5DC-BA57-5D9C-E2C6-FE9C030FD88A}"/>
              </a:ext>
            </a:extLst>
          </p:cNvPr>
          <p:cNvSpPr/>
          <p:nvPr/>
        </p:nvSpPr>
        <p:spPr>
          <a:xfrm>
            <a:off x="4445000" y="1778000"/>
            <a:ext cx="88900" cy="1587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8054B-FDD9-5290-3CED-D68934602841}"/>
              </a:ext>
            </a:extLst>
          </p:cNvPr>
          <p:cNvSpPr txBox="1"/>
          <p:nvPr/>
        </p:nvSpPr>
        <p:spPr>
          <a:xfrm>
            <a:off x="4660900" y="1943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33BACF-D1BA-AC65-1737-6CE0A8C01EF8}"/>
              </a:ext>
            </a:extLst>
          </p:cNvPr>
          <p:cNvSpPr txBox="1"/>
          <p:nvPr/>
        </p:nvSpPr>
        <p:spPr>
          <a:xfrm>
            <a:off x="4660900" y="23241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Azure Container Apps with min/max replicas and HTTP scale rules for true autoscale.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C2A55A-3322-D568-4992-C6C81B72CAB9}"/>
              </a:ext>
            </a:extLst>
          </p:cNvPr>
          <p:cNvSpPr/>
          <p:nvPr/>
        </p:nvSpPr>
        <p:spPr>
          <a:xfrm>
            <a:off x="8280400" y="1778000"/>
            <a:ext cx="3302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7B2B3A-9B32-5D94-BE50-43814D5BEF6A}"/>
              </a:ext>
            </a:extLst>
          </p:cNvPr>
          <p:cNvSpPr/>
          <p:nvPr/>
        </p:nvSpPr>
        <p:spPr>
          <a:xfrm>
            <a:off x="8280400" y="1778000"/>
            <a:ext cx="88900" cy="15875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B4FD9-9D56-514C-1350-A189A4300D49}"/>
              </a:ext>
            </a:extLst>
          </p:cNvPr>
          <p:cNvSpPr txBox="1"/>
          <p:nvPr/>
        </p:nvSpPr>
        <p:spPr>
          <a:xfrm>
            <a:off x="8496300" y="19431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Current limitation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E48C76-8A24-4C15-51D0-F07B2AD49434}"/>
              </a:ext>
            </a:extLst>
          </p:cNvPr>
          <p:cNvSpPr txBox="1"/>
          <p:nvPr/>
        </p:nvSpPr>
        <p:spPr>
          <a:xfrm>
            <a:off x="8496300" y="23241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Default Azure domains are used; no custom domain or global edge routing yet.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DAB42C-CEEC-4151-8869-144239D585CE}"/>
              </a:ext>
            </a:extLst>
          </p:cNvPr>
          <p:cNvSpPr/>
          <p:nvPr/>
        </p:nvSpPr>
        <p:spPr>
          <a:xfrm>
            <a:off x="609600" y="4000500"/>
            <a:ext cx="3302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1DE6BC-F6F4-FC82-A04A-1CD3C7F95304}"/>
              </a:ext>
            </a:extLst>
          </p:cNvPr>
          <p:cNvSpPr/>
          <p:nvPr/>
        </p:nvSpPr>
        <p:spPr>
          <a:xfrm>
            <a:off x="609600" y="4000500"/>
            <a:ext cx="88900" cy="1587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9E8D1-6043-15E7-7029-768EDE4D890B}"/>
              </a:ext>
            </a:extLst>
          </p:cNvPr>
          <p:cNvSpPr txBox="1"/>
          <p:nvPr/>
        </p:nvSpPr>
        <p:spPr>
          <a:xfrm>
            <a:off x="825500" y="41656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9AB87-91F1-107A-01A6-A8DF87CE15E7}"/>
              </a:ext>
            </a:extLst>
          </p:cNvPr>
          <p:cNvSpPr txBox="1"/>
          <p:nvPr/>
        </p:nvSpPr>
        <p:spPr>
          <a:xfrm>
            <a:off x="825500" y="45466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Azure Front Door/CDN with custom domain, TLS and /api route to backend.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013560-DE51-BD7B-6354-74675ABF347E}"/>
              </a:ext>
            </a:extLst>
          </p:cNvPr>
          <p:cNvSpPr/>
          <p:nvPr/>
        </p:nvSpPr>
        <p:spPr>
          <a:xfrm>
            <a:off x="4445000" y="4000500"/>
            <a:ext cx="3302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E701DF-1C3B-D498-699B-47A02228303E}"/>
              </a:ext>
            </a:extLst>
          </p:cNvPr>
          <p:cNvSpPr/>
          <p:nvPr/>
        </p:nvSpPr>
        <p:spPr>
          <a:xfrm>
            <a:off x="4445000" y="4000500"/>
            <a:ext cx="88900" cy="1587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5E3887-D0D3-9E97-A2A7-C448A7E145ED}"/>
              </a:ext>
            </a:extLst>
          </p:cNvPr>
          <p:cNvSpPr txBox="1"/>
          <p:nvPr/>
        </p:nvSpPr>
        <p:spPr>
          <a:xfrm>
            <a:off x="4660900" y="41656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Current limitation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8416B-D9D3-B298-F075-536979236FEA}"/>
              </a:ext>
            </a:extLst>
          </p:cNvPr>
          <p:cNvSpPr txBox="1"/>
          <p:nvPr/>
        </p:nvSpPr>
        <p:spPr>
          <a:xfrm>
            <a:off x="4660900" y="4546600"/>
            <a:ext cx="29591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AI Matrix is deterministic and low-cost, not full Azure OpenAI/Vision analysis.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4A4840-C3B5-1828-6B04-8F0A58E57C71}"/>
              </a:ext>
            </a:extLst>
          </p:cNvPr>
          <p:cNvSpPr/>
          <p:nvPr/>
        </p:nvSpPr>
        <p:spPr>
          <a:xfrm>
            <a:off x="8280400" y="4000500"/>
            <a:ext cx="3302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2780B8-A77E-3AEA-9F36-FB185ECAD99C}"/>
              </a:ext>
            </a:extLst>
          </p:cNvPr>
          <p:cNvSpPr/>
          <p:nvPr/>
        </p:nvSpPr>
        <p:spPr>
          <a:xfrm>
            <a:off x="8280400" y="4000500"/>
            <a:ext cx="88900" cy="1587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468303-8A74-09B7-9BB9-D36AD13A3DE8}"/>
              </a:ext>
            </a:extLst>
          </p:cNvPr>
          <p:cNvSpPr txBox="1"/>
          <p:nvPr/>
        </p:nvSpPr>
        <p:spPr>
          <a:xfrm>
            <a:off x="8496300" y="4165600"/>
            <a:ext cx="29591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600" b="1">
                <a:solidFill>
                  <a:srgbClr val="0F172A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4FC5B9-BC29-8938-4B37-17DC7948C08A}"/>
              </a:ext>
            </a:extLst>
          </p:cNvPr>
          <p:cNvSpPr txBox="1"/>
          <p:nvPr/>
        </p:nvSpPr>
        <p:spPr>
          <a:xfrm>
            <a:off x="8496300" y="4546600"/>
            <a:ext cx="29591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 panose="020B0004020202020204" pitchFamily="34" charset="0"/>
              </a:rPr>
              <a:t>Add Azure AI Vision/OpenAI and Redis cache for richer recommendations and faster feed/search.</a:t>
            </a:r>
            <a:endParaRPr lang="en-GB" sz="12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4943B7-E240-F1F3-5337-962316B5E39F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13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66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884CE8-AF2D-96B5-0DD9-0C9720CB6C16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2563EB"/>
                </a:solidFill>
                <a:latin typeface="Aptos" panose="020B0004020202020204" pitchFamily="34" charset="0"/>
              </a:rPr>
              <a:t>Use this for recorded video</a:t>
            </a:r>
            <a:endParaRPr lang="en-GB" sz="1100" b="1">
              <a:solidFill>
                <a:srgbClr val="2563EB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297C8-E7E9-447B-4B04-C349DE7253D4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5-Minute Demonstration Script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08BA0-BDB0-371D-0B10-5DDE8C9E1F0E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6A0CD-ABEF-9DC0-42A1-ECB594A4668D}"/>
              </a:ext>
            </a:extLst>
          </p:cNvPr>
          <p:cNvSpPr txBox="1"/>
          <p:nvPr/>
        </p:nvSpPr>
        <p:spPr>
          <a:xfrm>
            <a:off x="660400" y="1714500"/>
            <a:ext cx="6731000" cy="32470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0:00-0:30 - Open live frontend and backend health endpoint.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0:30-1:10 - Show Azure Resource Group with Web App, Storage, MySQL, ACR and VNet resources.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1:10-2:00 - Login/register and show creator upload screen.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2:00-2:50 - Use AI Content Plan and AI Matrix suggestions.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2:50-3:40 - Upload media; show Blob container receives file and MySQL stores metadata.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3:40-4:30 - Consumer feed/search/comment/rating demonstration.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4:30-5:00 - Show GitHub Actions successful CI/CD run and ACR image tag.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E6DA22-ED35-D08B-C165-299C9C46E9CB}"/>
              </a:ext>
            </a:extLst>
          </p:cNvPr>
          <p:cNvSpPr/>
          <p:nvPr/>
        </p:nvSpPr>
        <p:spPr>
          <a:xfrm>
            <a:off x="7937500" y="1968500"/>
            <a:ext cx="3175000" cy="241300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B685C-21B8-C2C7-F37A-170A4362D4EC}"/>
              </a:ext>
            </a:extLst>
          </p:cNvPr>
          <p:cNvSpPr txBox="1"/>
          <p:nvPr/>
        </p:nvSpPr>
        <p:spPr>
          <a:xfrm>
            <a:off x="8128000" y="2197100"/>
            <a:ext cx="279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500" b="1">
                <a:solidFill>
                  <a:srgbClr val="0F172A"/>
                </a:solidFill>
                <a:latin typeface="Aptos" panose="020B0004020202020204" pitchFamily="34" charset="0"/>
              </a:rPr>
              <a:t>Embed video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A6AA5-C775-B547-FECB-039710F64F74}"/>
              </a:ext>
            </a:extLst>
          </p:cNvPr>
          <p:cNvSpPr txBox="1"/>
          <p:nvPr/>
        </p:nvSpPr>
        <p:spPr>
          <a:xfrm>
            <a:off x="8128000" y="2578100"/>
            <a:ext cx="2794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 panose="020B0004020202020204" pitchFamily="34" charset="0"/>
              </a:rPr>
              <a:t>Insert your 5-minute screen recording on this slide or link it clearly if Blackboard requires separate video upload.</a:t>
            </a:r>
            <a:endParaRPr lang="en-GB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9B135-2540-B954-04AB-699018DA9BA4}"/>
              </a:ext>
            </a:extLst>
          </p:cNvPr>
          <p:cNvSpPr txBox="1"/>
          <p:nvPr/>
        </p:nvSpPr>
        <p:spPr>
          <a:xfrm>
            <a:off x="7937500" y="4800600"/>
            <a:ext cx="32385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DC2626"/>
                </a:solidFill>
                <a:latin typeface="Aptos" panose="020B0004020202020204" pitchFamily="34" charset="0"/>
              </a:rPr>
              <a:t>Keep Azure secret values hidden when recording.</a:t>
            </a:r>
            <a:endParaRPr lang="en-GB" sz="1500" b="1">
              <a:solidFill>
                <a:srgbClr val="DC26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63E4B-5280-839F-9721-0EEEF3950017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14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1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F1F1F-B044-2EDC-31D8-24D8668232C5}"/>
              </a:ext>
            </a:extLst>
          </p:cNvPr>
          <p:cNvSpPr txBox="1"/>
          <p:nvPr/>
        </p:nvSpPr>
        <p:spPr>
          <a:xfrm>
            <a:off x="482600" y="279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1100" b="1">
                <a:solidFill>
                  <a:srgbClr val="2563EB"/>
                </a:solidFill>
                <a:latin typeface="Aptos" panose="020B0004020202020204" pitchFamily="34" charset="0"/>
              </a:rPr>
              <a:t>Final slide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64810-A905-1A09-1EF4-C7245E39ED6B}"/>
              </a:ext>
            </a:extLst>
          </p:cNvPr>
          <p:cNvSpPr txBox="1"/>
          <p:nvPr/>
        </p:nvSpPr>
        <p:spPr>
          <a:xfrm>
            <a:off x="482600" y="6096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b="1">
                <a:solidFill>
                  <a:srgbClr val="0F172A"/>
                </a:solidFill>
                <a:latin typeface="Aptos" panose="020B0004020202020204" pitchFamily="34" charset="0"/>
              </a:rPr>
              <a:t>Conclusion and 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A8D733-F08E-5A42-3642-1034635962CF}"/>
              </a:ext>
            </a:extLst>
          </p:cNvPr>
          <p:cNvSpPr/>
          <p:nvPr/>
        </p:nvSpPr>
        <p:spPr>
          <a:xfrm>
            <a:off x="482600" y="1358900"/>
            <a:ext cx="11226800" cy="254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26881-CD48-2545-93A3-08DC9FD839F5}"/>
              </a:ext>
            </a:extLst>
          </p:cNvPr>
          <p:cNvSpPr txBox="1"/>
          <p:nvPr/>
        </p:nvSpPr>
        <p:spPr>
          <a:xfrm>
            <a:off x="698500" y="1778000"/>
            <a:ext cx="10287000" cy="306750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The solution meets the brief by providing a cloud-native media distribution web app with creator and consumer workflows.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The architecture separates static UI, REST logic, object storage and relational metadata for scalable operation.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Advanced features include CI/CD, containerisation, role-based identity, analytics, Blob-backed media upload and AI suggestion matrix.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The current deployment is cost-aware and includes a clear roadmap to autoscaling, CDN/Front Door, Redis and Azure cognitive services.</a:t>
            </a:r>
          </a:p>
          <a:p>
            <a:pPr>
              <a:spcAft>
                <a:spcPts val="700"/>
              </a:spcAft>
            </a:pPr>
            <a:r>
              <a:rPr lang="en-GB" sz="1700">
                <a:solidFill>
                  <a:srgbClr val="1E293B"/>
                </a:solidFill>
                <a:latin typeface="Aptos" panose="020B0004020202020204" pitchFamily="34" charset="0"/>
              </a:rPr>
              <a:t>• References: COM769 coursework brief; Microsoft Azure App Service, Blob Storage, MySQL Flexible Server and ACR documentation; GitHub Actions documentation; Spring Boot documentation.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804C6-CB58-62DE-B021-4945E5085931}"/>
              </a:ext>
            </a:extLst>
          </p:cNvPr>
          <p:cNvSpPr txBox="1"/>
          <p:nvPr/>
        </p:nvSpPr>
        <p:spPr>
          <a:xfrm>
            <a:off x="698500" y="5943600"/>
            <a:ext cx="1054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DC2626"/>
                </a:solidFill>
                <a:latin typeface="Aptos" panose="020B0004020202020204" pitchFamily="34" charset="0"/>
              </a:rPr>
              <a:t>Academic integrity: acknowledge AI assistance and any third-party sources used in the final Blackboard submission.</a:t>
            </a:r>
            <a:endParaRPr lang="en-GB" sz="1500" b="1">
              <a:solidFill>
                <a:srgbClr val="DC2626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F9FCE-8536-ABC9-E891-FE3EC8F53EB1}"/>
              </a:ext>
            </a:extLst>
          </p:cNvPr>
          <p:cNvSpPr txBox="1"/>
          <p:nvPr/>
        </p:nvSpPr>
        <p:spPr>
          <a:xfrm>
            <a:off x="9334500" y="6604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it-IT" sz="900">
                <a:solidFill>
                  <a:srgbClr val="64748B"/>
                </a:solidFill>
                <a:latin typeface="Aptos" panose="020B0004020202020204" pitchFamily="34" charset="0"/>
              </a:rPr>
              <a:t>AI Media Platform | Slide 15</a:t>
            </a:r>
            <a:endParaRPr lang="en-GB" sz="9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36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2026</Words>
  <Application>Microsoft Office PowerPoint</Application>
  <PresentationFormat>On-screen Show (16:10)</PresentationFormat>
  <Paragraphs>221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Imran</dc:creator>
  <cp:lastModifiedBy>MD Imran</cp:lastModifiedBy>
  <cp:revision>1</cp:revision>
  <dcterms:created xsi:type="dcterms:W3CDTF">2026-05-07T09:33:23Z</dcterms:created>
  <dcterms:modified xsi:type="dcterms:W3CDTF">2026-05-07T09:33:23Z</dcterms:modified>
</cp:coreProperties>
</file>